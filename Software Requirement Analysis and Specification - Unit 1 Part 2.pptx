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2.png"/><Relationship Id="rId4" Type="http://schemas.openxmlformats.org/officeDocument/2006/relationships/image" Target="../media/image-17-2.png"/><Relationship Id="rId5" Type="http://schemas.openxmlformats.org/officeDocument/2006/relationships/image" Target="../media/image-17-2.png"/><Relationship Id="rId6" Type="http://schemas.openxmlformats.org/officeDocument/2006/relationships/image" Target="../media/image-17-2.png"/><Relationship Id="rId7" Type="http://schemas.openxmlformats.org/officeDocument/2006/relationships/image" Target="../media/image-17-2.png"/><Relationship Id="rId8" Type="http://schemas.openxmlformats.org/officeDocument/2006/relationships/image" Target="../media/image-17-2.png"/><Relationship Id="rId9" Type="http://schemas.openxmlformats.org/officeDocument/2006/relationships/image" Target="../media/image-17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9525">
            <a:solidFill>
              <a:srgbClr val="2637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9525">
            <a:solidFill>
              <a:srgbClr val="2637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9525">
            <a:solidFill>
              <a:srgbClr val="2637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9525">
            <a:solidFill>
              <a:srgbClr val="2637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9525">
            <a:solidFill>
              <a:srgbClr val="2637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9525">
            <a:solidFill>
              <a:srgbClr val="2637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9525">
            <a:solidFill>
              <a:srgbClr val="2637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9525">
            <a:solidFill>
              <a:srgbClr val="2637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9525">
            <a:solidFill>
              <a:srgbClr val="2637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9525">
            <a:solidFill>
              <a:srgbClr val="2637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9525">
            <a:solidFill>
              <a:srgbClr val="2637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9525">
            <a:solidFill>
              <a:srgbClr val="2637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9525">
            <a:solidFill>
              <a:srgbClr val="2637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9525">
            <a:solidFill>
              <a:srgbClr val="2637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9525">
            <a:solidFill>
              <a:srgbClr val="2637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9525">
            <a:solidFill>
              <a:srgbClr val="2637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9525">
            <a:solidFill>
              <a:srgbClr val="2637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9525">
            <a:solidFill>
              <a:srgbClr val="2637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9525">
            <a:solidFill>
              <a:srgbClr val="2637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9525">
            <a:solidFill>
              <a:srgbClr val="2637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>
              <a:alpha val="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778240" y="914400"/>
            <a:ext cx="2834640" cy="2834640"/>
          </a:xfrm>
          <a:prstGeom prst="ellipse">
            <a:avLst/>
          </a:prstGeom>
          <a:solidFill>
            <a:srgbClr val="24365C"/>
          </a:solidFill>
          <a:ln/>
        </p:spPr>
      </p:sp>
      <p:pic>
        <p:nvPicPr>
          <p:cNvPr id="24" name="Image 0" descr="icons/docu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1874520"/>
            <a:ext cx="914400" cy="9144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 —  PART 2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233172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&amp; Specification</a:t>
            </a:r>
            <a:endParaRPr lang="en-US" sz="4000" dirty="0"/>
          </a:p>
        </p:txBody>
      </p:sp>
      <p:sp>
        <p:nvSpPr>
          <p:cNvPr id="27" name="Shape 24"/>
          <p:cNvSpPr/>
          <p:nvPr/>
        </p:nvSpPr>
        <p:spPr>
          <a:xfrm>
            <a:off x="822960" y="4160520"/>
            <a:ext cx="502920" cy="54864"/>
          </a:xfrm>
          <a:prstGeom prst="rect">
            <a:avLst/>
          </a:prstGeom>
          <a:solidFill>
            <a:srgbClr val="E8871E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22960" y="431596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Engineering • Elicitation • Analysis Models • SRS Documentation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Texts: K.K. Aggarwal &amp; Yogesh Singh – Software Engineering (3e)  |  Ian Sommerville – Software Engineering (10e)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icons/agen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5669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691640"/>
            <a:ext cx="566928" cy="566928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8" name="Image 1" descr="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1842516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754880" y="158191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7D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Engineering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271576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importance and the five-step RE process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035040" y="141732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09360" y="1691640"/>
            <a:ext cx="566928" cy="566928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14" name="Image 2" descr="icons/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236" y="184251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332720" y="158191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7D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630936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Elicitation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71576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of elicitation, plus FAST and QFD techniques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57200" y="388620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1520" y="4160520"/>
            <a:ext cx="566928" cy="566928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20" name="Image 3" descr="icons/fl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31139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754880" y="405079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7D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 Models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18464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DFD, Use Case, Sequence, Class and ER diagrams with case studies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035040" y="388620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309360" y="4160520"/>
            <a:ext cx="566928" cy="566928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26" name="Image 4" descr="icons/docum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236" y="431139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332720" y="405079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7D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1"/>
          <p:cNvSpPr txBox="1"/>
          <p:nvPr/>
        </p:nvSpPr>
        <p:spPr>
          <a:xfrm>
            <a:off x="630936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Documentation</a:t>
            </a:r>
            <a:endParaRPr lang="en-US" sz="1700" dirty="0"/>
          </a:p>
        </p:txBody>
      </p:sp>
      <p:sp>
        <p:nvSpPr>
          <p:cNvPr id="29" name="Text 22"/>
          <p:cNvSpPr txBox="1"/>
          <p:nvPr/>
        </p:nvSpPr>
        <p:spPr>
          <a:xfrm>
            <a:off x="6309360" y="518464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characteristics and IEEE-style organisation of an SRS</a:t>
            </a:r>
            <a:endParaRPr lang="en-US" sz="1250" dirty="0"/>
          </a:p>
        </p:txBody>
      </p:sp>
      <p:sp>
        <p:nvSpPr>
          <p:cNvPr id="30" name="Text 23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Software Requirement Analysis &amp; Specification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FOUNDATIONS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5669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Engineering: What &amp; Why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6492240" cy="1371600"/>
          </a:xfrm>
          <a:prstGeom prst="roundRect">
            <a:avLst>
              <a:gd name="adj" fmla="val 5333"/>
            </a:avLst>
          </a:prstGeom>
          <a:solidFill>
            <a:srgbClr val="EAF0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572768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pPr indent="0" marL="0">
              <a:buNone/>
            </a:pPr>
            <a:r>
              <a:rPr lang="en-US" sz="1550" i="1" dirty="0">
                <a:solidFill>
                  <a:srgbClr val="2436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process of establishing the services a system should provide, and the constraints under which it must operate.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871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Ian Sommerville, Software Engineering (10th Ed.)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063240"/>
            <a:ext cx="6492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describe WHAT the system must do (services) and constraints on HOW it may do it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bridge between a customer's real-world needs and the developer's design &amp; code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foundation for design, coding, testing and project planning that follow it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269480" y="1417320"/>
            <a:ext cx="4480560" cy="4617720"/>
          </a:xfrm>
          <a:prstGeom prst="roundRect">
            <a:avLst>
              <a:gd name="adj" fmla="val 1633"/>
            </a:avLst>
          </a:prstGeom>
          <a:solidFill>
            <a:srgbClr val="1B2A4A"/>
          </a:solidFill>
          <a:ln/>
        </p:spPr>
      </p:sp>
      <p:pic>
        <p:nvPicPr>
          <p:cNvPr id="11" name="Image 1" descr="icons/cris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6916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183880" y="17099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680960" y="2331720"/>
            <a:ext cx="3794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errors are the single most common cause of project failure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error caught in requirements costs far less to fix than one caught after release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 reduces rework, controls scope creep and manages stakeholder expectations</a:t>
            </a:r>
            <a:endParaRPr lang="en-US" sz="1350" dirty="0"/>
          </a:p>
          <a:p>
            <a:pPr marL="342900" indent="-342900">
              <a:lnSpc>
                <a:spcPct val="108000"/>
              </a:lnSpc>
              <a:buSzPct val="100000"/>
              <a:buChar char="●"/>
            </a:pPr>
            <a:r>
              <a:rPr lang="en-US" sz="135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output (the SRS) becomes the contract between customer and development team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Software Requirement Analysis &amp; Specification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65105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Sommerville (2015); Aggarwal &amp; Singh (2008)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icons/ge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FOUNDATIONS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5669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Requirement Engineering Process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68884" y="2148840"/>
            <a:ext cx="1965960" cy="1737360"/>
          </a:xfrm>
          <a:prstGeom prst="roundRect">
            <a:avLst>
              <a:gd name="adj" fmla="val 3684"/>
            </a:avLst>
          </a:prstGeom>
          <a:solidFill>
            <a:srgbClr val="1B2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8612" y="22219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6044" y="26060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5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806044" y="317296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project technically &amp; financially worth pursuing?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16556" y="2898648"/>
            <a:ext cx="292608" cy="237744"/>
          </a:xfrm>
          <a:prstGeom prst="rightArrow">
            <a:avLst/>
          </a:prstGeom>
          <a:solidFill>
            <a:srgbClr val="E8871E"/>
          </a:solidFill>
          <a:ln/>
        </p:spPr>
      </p:sp>
      <p:sp>
        <p:nvSpPr>
          <p:cNvPr id="11" name="Shape 8"/>
          <p:cNvSpPr/>
          <p:nvPr/>
        </p:nvSpPr>
        <p:spPr>
          <a:xfrm>
            <a:off x="2890876" y="2148840"/>
            <a:ext cx="1965960" cy="1737360"/>
          </a:xfrm>
          <a:prstGeom prst="roundRect">
            <a:avLst>
              <a:gd name="adj" fmla="val 3684"/>
            </a:avLst>
          </a:prstGeom>
          <a:solidFill>
            <a:srgbClr val="4A6FA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000604" y="22219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028036" y="26060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Elicitation</a:t>
            </a:r>
            <a:endParaRPr lang="en-US" sz="1550" dirty="0"/>
          </a:p>
        </p:txBody>
      </p:sp>
      <p:sp>
        <p:nvSpPr>
          <p:cNvPr id="14" name="Text 11"/>
          <p:cNvSpPr txBox="1"/>
          <p:nvPr/>
        </p:nvSpPr>
        <p:spPr>
          <a:xfrm>
            <a:off x="3028036" y="317296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requirements from stakeholders (FAST, QFD, interviews…)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38548" y="2898648"/>
            <a:ext cx="292608" cy="237744"/>
          </a:xfrm>
          <a:prstGeom prst="rightArrow">
            <a:avLst/>
          </a:prstGeom>
          <a:solidFill>
            <a:srgbClr val="E8871E"/>
          </a:solidFill>
          <a:ln/>
        </p:spPr>
      </p:sp>
      <p:sp>
        <p:nvSpPr>
          <p:cNvPr id="16" name="Shape 13"/>
          <p:cNvSpPr/>
          <p:nvPr/>
        </p:nvSpPr>
        <p:spPr>
          <a:xfrm>
            <a:off x="5112868" y="2148840"/>
            <a:ext cx="1965960" cy="1737360"/>
          </a:xfrm>
          <a:prstGeom prst="roundRect">
            <a:avLst>
              <a:gd name="adj" fmla="val 3684"/>
            </a:avLst>
          </a:prstGeom>
          <a:solidFill>
            <a:srgbClr val="1B2A4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22596" y="22219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250028" y="26060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5250028" y="317296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refine requirements — DFD, Use Case, ER, Class…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060540" y="2898648"/>
            <a:ext cx="292608" cy="237744"/>
          </a:xfrm>
          <a:prstGeom prst="rightArrow">
            <a:avLst/>
          </a:prstGeom>
          <a:solidFill>
            <a:srgbClr val="E8871E"/>
          </a:solidFill>
          <a:ln/>
        </p:spPr>
      </p:sp>
      <p:sp>
        <p:nvSpPr>
          <p:cNvPr id="21" name="Shape 18"/>
          <p:cNvSpPr/>
          <p:nvPr/>
        </p:nvSpPr>
        <p:spPr>
          <a:xfrm>
            <a:off x="7334860" y="2148840"/>
            <a:ext cx="1965960" cy="1737360"/>
          </a:xfrm>
          <a:prstGeom prst="roundRect">
            <a:avLst>
              <a:gd name="adj" fmla="val 3684"/>
            </a:avLst>
          </a:prstGeom>
          <a:solidFill>
            <a:srgbClr val="4A6FA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444588" y="22219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472020" y="26060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550" dirty="0"/>
          </a:p>
        </p:txBody>
      </p:sp>
      <p:sp>
        <p:nvSpPr>
          <p:cNvPr id="24" name="Text 21"/>
          <p:cNvSpPr txBox="1"/>
          <p:nvPr/>
        </p:nvSpPr>
        <p:spPr>
          <a:xfrm>
            <a:off x="7472020" y="317296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formal Software Requirement Specification (SRS)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9282532" y="2898648"/>
            <a:ext cx="292608" cy="237744"/>
          </a:xfrm>
          <a:prstGeom prst="rightArrow">
            <a:avLst/>
          </a:prstGeom>
          <a:solidFill>
            <a:srgbClr val="E8871E"/>
          </a:solidFill>
          <a:ln/>
        </p:spPr>
      </p:sp>
      <p:sp>
        <p:nvSpPr>
          <p:cNvPr id="26" name="Shape 23"/>
          <p:cNvSpPr/>
          <p:nvPr/>
        </p:nvSpPr>
        <p:spPr>
          <a:xfrm>
            <a:off x="9556852" y="2148840"/>
            <a:ext cx="1965960" cy="1737360"/>
          </a:xfrm>
          <a:prstGeom prst="roundRect">
            <a:avLst>
              <a:gd name="adj" fmla="val 3684"/>
            </a:avLst>
          </a:prstGeom>
          <a:solidFill>
            <a:srgbClr val="1B2A4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9666580" y="22219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694012" y="26060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</a:t>
            </a:r>
            <a:endParaRPr lang="en-US" sz="15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550" dirty="0"/>
          </a:p>
        </p:txBody>
      </p:sp>
      <p:sp>
        <p:nvSpPr>
          <p:cNvPr id="29" name="Text 26"/>
          <p:cNvSpPr txBox="1"/>
          <p:nvPr/>
        </p:nvSpPr>
        <p:spPr>
          <a:xfrm>
            <a:off x="9694012" y="317296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correctness with stakeholders; manage change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68884" y="4389120"/>
            <a:ext cx="10853928" cy="1051560"/>
          </a:xfrm>
          <a:prstGeom prst="roundRect">
            <a:avLst>
              <a:gd name="adj" fmla="val 6087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43204" y="4389120"/>
            <a:ext cx="103052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iterative cycle, not a strict sequence — analysis often reveals gaps that send the team back to elicitation, and validation may trigger renewed documentation.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Software Requirement Analysis &amp; Specification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65105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Aggarwal &amp; Singh (2008), Ch. 3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icons/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ELICITATION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5669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Elicitation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417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gathering requirements through discussion with stakeholders, study of existing systems, task/business analysis, and observation — discovering needs users may not state explicitly.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Problems in Elicitation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7432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29718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8871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29992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of Scope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520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of the system is unclear; unnecessary technical detail is offered too early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51960" y="27432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0" y="29718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8871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48056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0" y="29992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of Understanding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480560" y="3520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aren't fully sure what they need, or use ambiguous, domain-specific language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46720" y="27432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75320" y="29718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8871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7532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823960" y="29992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of Volatility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275320" y="3520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keep changing as the business and stakeholder priorities evolve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Elicitation Techniques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57200" y="507492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4A6FA5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57200" y="5074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2331720" y="507492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4A6FA5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331720" y="5074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206240" y="507492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4A6FA5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206240" y="5074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Questionnaires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080760" y="507492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E8871E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080760" y="5074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7955280" y="507492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E8871E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955280" y="5074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QFD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9829800" y="507492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4A6FA5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9829800" y="5074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457200" y="5715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Amber-highlighted techniques (FAST, QFD) are detailed on the following slides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Software Requirement Analysis &amp; Specification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457200" y="65105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Aggarwal &amp; Singh (2008), Ch. 3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ELICITATION TECHNIQUE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5669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— Facilitated Application Specification Technique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team-oriented elicitation approach in which customers and developers jointly work out preliminary requirements for the software, guided by a neutral facilitator.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14884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meeting is held at a neutral site, attended by both developer and customer teams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rules for preparation and participation are agreed and followed by everyone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agenda is set broad enough to cover all important points, yet flexible for open discussion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14884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“facilitator” (customer, developer, or outsider) controls and moderates the meeting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“definition mechanism” — worksheets, flip-charts, wall stickies — records what is agreed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a shared list of requirements, and a plan of action, by the end of the session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" y="470916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/>
        </p:spPr>
      </p:sp>
      <p:pic>
        <p:nvPicPr>
          <p:cNvPr id="10" name="Image 1" descr="icons/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749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4709160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FAST session flow: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&amp; set objectives  →  Discuss / negotiate approach  →  Draft preliminary requirement list  →  Review, refine &amp; prioritise as a group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Software Requirement Analysis &amp; Specification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5105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Aggarwal &amp; Singh (2008); Pressman &amp; Maxim (2019)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icons/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ELICITATION TECHNIQUE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5669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QFD — Quality Function Deployment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71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technique that translates the customer's needs into technical requirements for software, placing maximum emphasis on customer satisfaction. QFD classifies every requirement into one of three categories: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194560"/>
            <a:ext cx="3566160" cy="3337560"/>
          </a:xfrm>
          <a:prstGeom prst="roundRect">
            <a:avLst>
              <a:gd name="adj" fmla="val 2192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2450592"/>
            <a:ext cx="548640" cy="54864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9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58775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1272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Requirements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730752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stated during customer meetings. Satisfaction rises directly with how completely they are met.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51960" y="2194560"/>
            <a:ext cx="3566160" cy="3337560"/>
          </a:xfrm>
          <a:prstGeom prst="roundRect">
            <a:avLst>
              <a:gd name="adj" fmla="val 2192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07992" y="2450592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4" name="Image 2" descr="icons/checkl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258775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480560" y="31272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Requirements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480560" y="3730752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Implicit, fundamental requirements the customer never states because they're assumed. Their absence causes major dissatisfaction.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046720" y="2194560"/>
            <a:ext cx="3566160" cy="3337560"/>
          </a:xfrm>
          <a:prstGeom prst="roundRect">
            <a:avLst>
              <a:gd name="adj" fmla="val 2192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02752" y="2450592"/>
            <a:ext cx="548640" cy="5486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9" name="Image 3" descr="icons/light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912" y="2587752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275320" y="31272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Exciting Requirements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275320" y="3730752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beyond the customer's own expectations. Delight the user when present — but their absence isn't noticed.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QFD functions: Function Deployment (what the software must do) • Information Deployment (data objects/relationships) • Task Deployment (behaviour as an external stimuli/response chain) • Value Deployment (priority ranking)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Software Requirement Analysis &amp; Specification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105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Pressman &amp; Maxim (2019); Aggarwal &amp; Singh (2008)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icons/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REQUIREMENT ANALYSIS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5669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 Requirements: Two Approaches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716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 studies elicited requirements to remove ambiguity, resolve conflicts, and build precise models that both stakeholders and developers can validate.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5577840" cy="3977640"/>
          </a:xfrm>
          <a:prstGeom prst="roundRect">
            <a:avLst>
              <a:gd name="adj" fmla="val 1839"/>
            </a:avLst>
          </a:prstGeom>
          <a:solidFill>
            <a:srgbClr val="1B2A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331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Analysis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346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/ data-flow oriented — views the system as functions transforming data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77240" y="3657600"/>
            <a:ext cx="4937760" cy="566928"/>
          </a:xfrm>
          <a:prstGeom prst="roundRect">
            <a:avLst>
              <a:gd name="adj" fmla="val 4838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6576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Diagrams (DFD)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77240" y="4407408"/>
            <a:ext cx="4937760" cy="566928"/>
          </a:xfrm>
          <a:prstGeom prst="roundRect">
            <a:avLst>
              <a:gd name="adj" fmla="val 4838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40740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77240" y="5157216"/>
            <a:ext cx="4937760" cy="566928"/>
          </a:xfrm>
          <a:prstGeom prst="roundRect">
            <a:avLst>
              <a:gd name="adj" fmla="val 4838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515721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(ER) Diagrams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309360" y="2103120"/>
            <a:ext cx="5577840" cy="3977640"/>
          </a:xfrm>
          <a:prstGeom prst="roundRect">
            <a:avLst>
              <a:gd name="adj" fmla="val 1839"/>
            </a:avLst>
          </a:prstGeom>
          <a:solidFill>
            <a:srgbClr val="4A6FA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629400" y="2331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Analysis (UML)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629400" y="28346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the system as interacting objects that hold data and behaviour together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629400" y="3657600"/>
            <a:ext cx="4937760" cy="566928"/>
          </a:xfrm>
          <a:prstGeom prst="roundRect">
            <a:avLst>
              <a:gd name="adj" fmla="val 4838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29400" y="36576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629400" y="4407408"/>
            <a:ext cx="4937760" cy="566928"/>
          </a:xfrm>
          <a:prstGeom prst="roundRect">
            <a:avLst>
              <a:gd name="adj" fmla="val 4838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29400" y="440740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629400" y="5157216"/>
            <a:ext cx="4937760" cy="566928"/>
          </a:xfrm>
          <a:prstGeom prst="roundRect">
            <a:avLst>
              <a:gd name="adj" fmla="val 4838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29400" y="515721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Diagrams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Software Requirement Analysis &amp; Specification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65105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Sommerville (2015); Aggarwal &amp; Singh (2008)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icons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STRUCTURED ANALYSIS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5669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Diagram (DFD) — Notation &amp; Levels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71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DFD is a graphical tool that shows how data moves through a system — the processes that transform it, where it is stored, and its external sources/destinations.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1737360" cy="86868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2377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3192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input data into output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14600" y="2377440"/>
            <a:ext cx="1737360" cy="868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514600" y="23774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2514600" y="33192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or destination of data (outside system)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0" y="2542032"/>
            <a:ext cx="1737360" cy="539496"/>
          </a:xfrm>
          <a:prstGeom prst="rect">
            <a:avLst/>
          </a:prstGeom>
          <a:solidFill>
            <a:srgbClr val="F4F7FB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73168" y="2542032"/>
            <a:ext cx="0" cy="539496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73168" y="2542032"/>
            <a:ext cx="15361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33192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where data is held (e.g. a file/DB)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629400" y="2670048"/>
            <a:ext cx="1737360" cy="274320"/>
          </a:xfrm>
          <a:prstGeom prst="rightArrow">
            <a:avLst/>
          </a:prstGeom>
          <a:solidFill>
            <a:srgbClr val="E8871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29400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629400" y="33192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of data between processes, stores &amp; entities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595360" y="1965960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1B2A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82396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of Refinement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8823960" y="2542032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(Context Diagram): whole system as one process, with external entities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1: context process decomposed into its major sub-processes</a:t>
            </a:r>
            <a:endParaRPr lang="en-US" sz="1150" dirty="0"/>
          </a:p>
          <a:p>
            <a:pPr marL="342900" indent="-342900">
              <a:lnSpc>
                <a:spcPct val="108000"/>
              </a:lnSpc>
              <a:buSzPct val="100000"/>
              <a:buChar char="●"/>
            </a:pPr>
            <a:r>
              <a:rPr lang="en-US" sz="115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2+: further decomposition until each process is a single, simple function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89204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 data store can only be accessed via a process — never directly by an external entity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every process must have at least one input and one output data flow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Software Requirement Analysis &amp; Specification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65105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Aggarwal &amp; Singh (2008); Sommerville (2015)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icons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CASE STUDY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5669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DFD Case Study — Online Bookstore (Level 0 &amp; 1)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— Context Diagram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55448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8288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606040" y="1737360"/>
            <a:ext cx="1920240" cy="91440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606040" y="1737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Bookstore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0" y="1828800"/>
            <a:ext cx="155448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9200" y="18288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103120" y="2148840"/>
            <a:ext cx="502920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2084832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26280" y="2395728"/>
            <a:ext cx="502920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4434840" y="210312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2606040" y="2880360"/>
            <a:ext cx="1920240" cy="457200"/>
          </a:xfrm>
          <a:prstGeom prst="rect">
            <a:avLst/>
          </a:prstGeom>
          <a:solidFill>
            <a:srgbClr val="F4F7FB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61488" y="2880360"/>
            <a:ext cx="0" cy="457200"/>
          </a:xfrm>
          <a:prstGeom prst="line">
            <a:avLst/>
          </a:prstGeom>
          <a:noFill/>
          <a:ln w="15875">
            <a:solidFill>
              <a:srgbClr val="1B2A4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761488" y="288036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DB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566160" y="2651760"/>
            <a:ext cx="0" cy="22860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6309360" y="1371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Decomposition of “Online Bookstore System”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309360" y="1828800"/>
            <a:ext cx="2468880" cy="77724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309360" y="1828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Browse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052560" y="1828800"/>
            <a:ext cx="2468880" cy="777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052560" y="1828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Manage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Checkout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09360" y="2788920"/>
            <a:ext cx="2468880" cy="77724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309360" y="27889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Process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9052560" y="2788920"/>
            <a:ext cx="2468880" cy="777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052560" y="27889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Update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94760"/>
            <a:ext cx="11247120" cy="214884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1520" y="39502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diagram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731520" y="4315968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and Admin are external entities — they lie outside the system boundary but exchange data with it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“Online Bookstore System” (Level 0) is later split into four cooperating processes (Level 1): Browse Catalogue, Manage Cart &amp; Checkout, Process Payment, and Update Inventory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“Book DB” is a data store accessed only through a process — never directly by Customer or Admin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Software Requirement Analysis &amp; Specification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65105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case study following Aggarwal &amp; Singh (2008) DFD conventions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OBJECT-ORIENTED ANALYSIS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5669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 — Notation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71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WHO interacts with the system (actors) and WHAT they can do (use cases) — describing functional requirements from the user's point of view.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206240" y="2148840"/>
            <a:ext cx="5120640" cy="3063240"/>
          </a:xfrm>
          <a:prstGeom prst="rect">
            <a:avLst/>
          </a:prstGeom>
          <a:solidFill>
            <a:srgbClr val="F4F7FB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206240" y="22128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Boundary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271016" y="3200400"/>
            <a:ext cx="292608" cy="29260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Shape 7"/>
          <p:cNvSpPr/>
          <p:nvPr/>
        </p:nvSpPr>
        <p:spPr>
          <a:xfrm>
            <a:off x="1417320" y="3493008"/>
            <a:ext cx="0" cy="347472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16152" y="3602736"/>
            <a:ext cx="402336" cy="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17320" y="3840480"/>
            <a:ext cx="-164592" cy="27432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17320" y="3840480"/>
            <a:ext cx="164592" cy="27432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2514600"/>
            <a:ext cx="4206240" cy="658368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663440" y="25146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2331720" y="3639312"/>
            <a:ext cx="2286000" cy="-795528"/>
          </a:xfrm>
          <a:prstGeom prst="line">
            <a:avLst/>
          </a:prstGeom>
          <a:noFill/>
          <a:ln w="15875">
            <a:solidFill>
              <a:srgbClr val="1B2A4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3383280"/>
            <a:ext cx="4206240" cy="658368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663440" y="33832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2331720" y="3639312"/>
            <a:ext cx="2286000" cy="73152"/>
          </a:xfrm>
          <a:prstGeom prst="line">
            <a:avLst/>
          </a:prstGeom>
          <a:noFill/>
          <a:ln w="15875">
            <a:solidFill>
              <a:srgbClr val="1B2A4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4251960"/>
            <a:ext cx="4206240" cy="658368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663440" y="425196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2331720" y="3639312"/>
            <a:ext cx="2286000" cy="941832"/>
          </a:xfrm>
          <a:prstGeom prst="line">
            <a:avLst/>
          </a:prstGeom>
          <a:noFill/>
          <a:ln w="15875">
            <a:solidFill>
              <a:srgbClr val="1B2A4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743200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9646920" y="2148840"/>
            <a:ext cx="2103120" cy="4023360"/>
          </a:xfrm>
          <a:prstGeom prst="roundRect">
            <a:avLst>
              <a:gd name="adj" fmla="val 2609"/>
            </a:avLst>
          </a:prstGeom>
          <a:solidFill>
            <a:srgbClr val="1B2A4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802368" y="2267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9802368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&lt;&lt;include&gt;&gt;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9802368" y="29718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use case always incorporates the included one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9802368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&lt;&lt;extend&gt;&gt;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802368" y="4023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behaviour added under a condition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9802368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9802368" y="50749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actor/use case specialises another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Software Requirement Analysis &amp; Specification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65105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UML notation, per Sommerville (2015)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CASE STUDY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5669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Case Study — ATM System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3657600" y="1508760"/>
            <a:ext cx="5486400" cy="4160520"/>
          </a:xfrm>
          <a:prstGeom prst="rect">
            <a:avLst/>
          </a:prstGeom>
          <a:solidFill>
            <a:srgbClr val="F4F7FB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57600" y="1572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System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309421" y="2651760"/>
            <a:ext cx="307238" cy="30723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Shape 6"/>
          <p:cNvSpPr/>
          <p:nvPr/>
        </p:nvSpPr>
        <p:spPr>
          <a:xfrm>
            <a:off x="1463040" y="2958998"/>
            <a:ext cx="0" cy="364846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51814" y="3074213"/>
            <a:ext cx="422453" cy="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63040" y="3323844"/>
            <a:ext cx="-172822" cy="288036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63040" y="3323844"/>
            <a:ext cx="172822" cy="288036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0735056" y="4480560"/>
            <a:ext cx="292608" cy="292608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5" name="Shape 12"/>
          <p:cNvSpPr/>
          <p:nvPr/>
        </p:nvSpPr>
        <p:spPr>
          <a:xfrm>
            <a:off x="10881360" y="4773168"/>
            <a:ext cx="0" cy="347472"/>
          </a:xfrm>
          <a:prstGeom prst="line">
            <a:avLst/>
          </a:prstGeom>
          <a:noFill/>
          <a:ln w="31750">
            <a:solidFill>
              <a:srgbClr val="4A6FA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680192" y="4882896"/>
            <a:ext cx="402336" cy="0"/>
          </a:xfrm>
          <a:prstGeom prst="line">
            <a:avLst/>
          </a:prstGeom>
          <a:noFill/>
          <a:ln w="31750">
            <a:solidFill>
              <a:srgbClr val="4A6FA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881360" y="5120640"/>
            <a:ext cx="-164592" cy="274320"/>
          </a:xfrm>
          <a:prstGeom prst="line">
            <a:avLst/>
          </a:prstGeom>
          <a:noFill/>
          <a:ln w="31750">
            <a:solidFill>
              <a:srgbClr val="4A6FA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881360" y="5120640"/>
            <a:ext cx="164592" cy="274320"/>
          </a:xfrm>
          <a:prstGeom prst="line">
            <a:avLst/>
          </a:prstGeom>
          <a:noFill/>
          <a:ln w="31750">
            <a:solidFill>
              <a:srgbClr val="4A6FA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058400" y="5440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Server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977640" y="1783080"/>
            <a:ext cx="2148840" cy="621792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977640" y="178308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977640" y="2697480"/>
            <a:ext cx="2148840" cy="621792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977640" y="269748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3977640" y="3611880"/>
            <a:ext cx="2148840" cy="621792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977640" y="361188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720840" y="2240280"/>
            <a:ext cx="2148840" cy="621792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20840" y="224028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PIN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720840" y="3337560"/>
            <a:ext cx="2148840" cy="621792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720840" y="333756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Receipt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2423160" y="3108960"/>
            <a:ext cx="1554480" cy="-1014984"/>
          </a:xfrm>
          <a:prstGeom prst="line">
            <a:avLst/>
          </a:prstGeom>
          <a:noFill/>
          <a:ln w="15875">
            <a:solidFill>
              <a:srgbClr val="1B2A4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423160" y="3108960"/>
            <a:ext cx="1554480" cy="-100584"/>
          </a:xfrm>
          <a:prstGeom prst="line">
            <a:avLst/>
          </a:prstGeom>
          <a:noFill/>
          <a:ln w="15875">
            <a:solidFill>
              <a:srgbClr val="1B2A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423160" y="3108960"/>
            <a:ext cx="1554480" cy="813816"/>
          </a:xfrm>
          <a:prstGeom prst="line">
            <a:avLst/>
          </a:prstGeom>
          <a:noFill/>
          <a:ln w="15875">
            <a:solidFill>
              <a:srgbClr val="1B2A4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126480" y="2093976"/>
            <a:ext cx="594360" cy="457200"/>
          </a:xfrm>
          <a:prstGeom prst="line">
            <a:avLst/>
          </a:prstGeom>
          <a:noFill/>
          <a:ln w="15875">
            <a:solidFill>
              <a:srgbClr val="1B2A4A"/>
            </a:solidFill>
            <a:prstDash val="dash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5943600" y="2148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&lt;&lt;include&gt;&gt;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126480" y="3008376"/>
            <a:ext cx="594360" cy="502920"/>
          </a:xfrm>
          <a:prstGeom prst="line">
            <a:avLst/>
          </a:prstGeom>
          <a:noFill/>
          <a:ln w="15875">
            <a:solidFill>
              <a:srgbClr val="1B2A4A"/>
            </a:solidFill>
            <a:prstDash val="dash"/>
            <a:tailEnd type="triangle"/>
          </a:ln>
        </p:spPr>
      </p:sp>
      <p:sp>
        <p:nvSpPr>
          <p:cNvPr id="36" name="Text 33"/>
          <p:cNvSpPr txBox="1"/>
          <p:nvPr/>
        </p:nvSpPr>
        <p:spPr>
          <a:xfrm>
            <a:off x="5943600" y="3246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&lt;&lt;extend&gt;&gt;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8869680" y="2551176"/>
            <a:ext cx="1737360" cy="2103120"/>
          </a:xfrm>
          <a:prstGeom prst="line">
            <a:avLst/>
          </a:prstGeom>
          <a:noFill/>
          <a:ln w="15875">
            <a:solidFill>
              <a:srgbClr val="4A6FA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65760" y="5806440"/>
            <a:ext cx="11430000" cy="18288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457200" y="58064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Cash </a:t>
            </a:r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&lt;&lt;include&gt;&gt;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Validate PIN — PIN check always runs.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Cash </a:t>
            </a:r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&lt;&lt;extend&gt;&gt;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Print Receipt — receipt only if the customer opts in.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Software Requirement Analysis &amp; Specification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457200" y="65105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case study following UML use-case conventions</a:t>
            </a:r>
            <a:endParaRPr lang="en-US" sz="900" dirty="0"/>
          </a:p>
        </p:txBody>
      </p:sp>
      <p:sp>
        <p:nvSpPr>
          <p:cNvPr id="42" name="Text 3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icons/sequ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OBJECT-ORIENTED ANALYSIS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5669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Diagram — Notation &amp; Example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71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objects participating in a scenario and the time-ordered sequence of messages exchanged between them — useful for modelling one specific use-case flow.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2103120"/>
            <a:ext cx="18288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6576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280160" y="2606040"/>
            <a:ext cx="0" cy="3657600"/>
          </a:xfrm>
          <a:prstGeom prst="line">
            <a:avLst/>
          </a:prstGeom>
          <a:noFill/>
          <a:ln w="19050">
            <a:solidFill>
              <a:srgbClr val="C7D2E0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4480560" y="2103120"/>
            <a:ext cx="18288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48056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394960" y="2606040"/>
            <a:ext cx="0" cy="3657600"/>
          </a:xfrm>
          <a:prstGeom prst="line">
            <a:avLst/>
          </a:prstGeom>
          <a:noFill/>
          <a:ln w="19050">
            <a:solidFill>
              <a:srgbClr val="C7D2E0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8595360" y="2103120"/>
            <a:ext cx="18288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59536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Server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509760" y="2606040"/>
            <a:ext cx="0" cy="3657600"/>
          </a:xfrm>
          <a:prstGeom prst="line">
            <a:avLst/>
          </a:prstGeom>
          <a:noFill/>
          <a:ln w="19050">
            <a:solidFill>
              <a:srgbClr val="C7D2E0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5340096" y="2880360"/>
            <a:ext cx="109728" cy="301752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7" name="Shape 14"/>
          <p:cNvSpPr/>
          <p:nvPr/>
        </p:nvSpPr>
        <p:spPr>
          <a:xfrm>
            <a:off x="1280160" y="2880360"/>
            <a:ext cx="411480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1280160" y="26243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 insert card + enter PIN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394960" y="3429000"/>
            <a:ext cx="411480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5394960" y="31729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 validatePIN(pin)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 flipH="1">
            <a:off x="5394960" y="3931920"/>
            <a:ext cx="411480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dash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5394960" y="36758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 PIN valid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280160" y="4434840"/>
            <a:ext cx="411480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1280160" y="41788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 request withdrawal(amount)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394960" y="4937760"/>
            <a:ext cx="411480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5394960" y="46817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 debit account(amount)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 flipH="1">
            <a:off x="5394960" y="5440680"/>
            <a:ext cx="411480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dash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5394960" y="51846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 balance updated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 flipH="1">
            <a:off x="1280160" y="5806440"/>
            <a:ext cx="411480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dash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1280160" y="5550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 dispense cash + receipt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arrow = call/request message      Dashed arrow = return message      Vertical bar = activation (object is executing)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Software Requirement Analysis &amp; Specification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65105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 following UML sequence-diagram conventions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icons/c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OBJECT-ORIENTED ANALYSIS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5669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Diagram — Structure &amp; Relationships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71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model of the system's classes, their attributes and operations, and the relationships that connect them — the blueprint used going into design.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2468880" cy="17007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057400"/>
            <a:ext cx="246888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136392"/>
            <a:ext cx="2468880" cy="0"/>
          </a:xfrm>
          <a:prstGeom prst="line">
            <a:avLst/>
          </a:prstGeom>
          <a:noFill/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51460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 : String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accountNo : String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13639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login()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viewBalance()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0" y="2057400"/>
            <a:ext cx="2468880" cy="17007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0" y="2057400"/>
            <a:ext cx="246888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572000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0" y="3136392"/>
            <a:ext cx="2468880" cy="0"/>
          </a:xfrm>
          <a:prstGeom prst="line">
            <a:avLst/>
          </a:prstGeom>
          <a:noFill/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63440" y="251460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balance : double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accType : String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4663440" y="313639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debit()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credit()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595360" y="2057400"/>
            <a:ext cx="2468880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595360" y="2057400"/>
            <a:ext cx="246888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595360" y="2057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595360" y="3136392"/>
            <a:ext cx="2468880" cy="0"/>
          </a:xfrm>
          <a:prstGeom prst="line">
            <a:avLst/>
          </a:prstGeom>
          <a:noFill/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0" y="251460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amount : double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date : Date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8686800" y="31363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execute()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017520" y="2880360"/>
            <a:ext cx="155448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035808" y="25877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4160520" y="25877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1..*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3291840" y="293522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040880" y="2880360"/>
            <a:ext cx="155448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059168" y="25877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8229600" y="25877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7315200" y="29352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 Types</a:t>
            </a:r>
            <a:endParaRPr lang="en-US" sz="1450" dirty="0"/>
          </a:p>
        </p:txBody>
      </p:sp>
      <p:sp>
        <p:nvSpPr>
          <p:cNvPr id="34" name="Shape 31"/>
          <p:cNvSpPr/>
          <p:nvPr/>
        </p:nvSpPr>
        <p:spPr>
          <a:xfrm>
            <a:off x="457200" y="457200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0080" y="4572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structural link between two classes (e.g. Customer – Account)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080760" y="457200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263640" y="4572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“Has-a” whole-part; the part can exist independently of the whole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457200" y="534924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0080" y="53492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“owns-a” whole-part; the part dies with the whole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6080760" y="534924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263640" y="53492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“Is-a” relationship; a subclass specialises a superclass</a:t>
            </a:r>
            <a:endParaRPr lang="en-US" sz="1150" dirty="0"/>
          </a:p>
        </p:txBody>
      </p:sp>
      <p:sp>
        <p:nvSpPr>
          <p:cNvPr id="42" name="Text 39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Software Requirement Analysis &amp; Specification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65105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UML notation, per Sommerville (2015)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STRUCTURED ANALYSIS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5669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(ER) Diagram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371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data a system must store, in terms of entities, their attributes, and the relationships between them — the basis for the eventual database design.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201168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2606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645920" y="1600200"/>
            <a:ext cx="1371600" cy="502920"/>
          </a:xfrm>
          <a:prstGeom prst="ellipse">
            <a:avLst/>
          </a:prstGeom>
          <a:solidFill>
            <a:srgbClr val="F4F7FB"/>
          </a:solidFill>
          <a:ln w="15875">
            <a:solidFill>
              <a:srgbClr val="4A6FA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645920" y="1600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331720" y="2103120"/>
            <a:ext cx="0" cy="502920"/>
          </a:xfrm>
          <a:prstGeom prst="line">
            <a:avLst/>
          </a:prstGeom>
          <a:noFill/>
          <a:ln w="12700">
            <a:solidFill>
              <a:srgbClr val="4A6FA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45920" y="2057400"/>
            <a:ext cx="1371600" cy="502920"/>
          </a:xfrm>
          <a:prstGeom prst="ellipse">
            <a:avLst/>
          </a:prstGeom>
          <a:solidFill>
            <a:srgbClr val="F4F7FB"/>
          </a:solidFill>
          <a:ln w="15875">
            <a:solidFill>
              <a:srgbClr val="4A6FA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64592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331720" y="2560320"/>
            <a:ext cx="0" cy="45720"/>
          </a:xfrm>
          <a:prstGeom prst="line">
            <a:avLst/>
          </a:prstGeom>
          <a:noFill/>
          <a:ln w="12700">
            <a:solidFill>
              <a:srgbClr val="4A6FA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80560" y="2542032"/>
            <a:ext cx="1737360" cy="822960"/>
          </a:xfrm>
          <a:prstGeom prst="diamond">
            <a:avLst/>
          </a:prstGeom>
          <a:solidFill>
            <a:srgbClr val="E8871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480560" y="254203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651760" y="2948940"/>
            <a:ext cx="182880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200400" y="2651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406640" y="2606040"/>
            <a:ext cx="2011680" cy="68580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406640" y="26060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217920" y="2948940"/>
            <a:ext cx="118872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75120" y="2651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692640" y="2377440"/>
            <a:ext cx="1417320" cy="502920"/>
          </a:xfrm>
          <a:prstGeom prst="ellipse">
            <a:avLst/>
          </a:prstGeom>
          <a:solidFill>
            <a:srgbClr val="F4F7FB"/>
          </a:solidFill>
          <a:ln w="15875">
            <a:solidFill>
              <a:srgbClr val="4A6FA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692640" y="23774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9692640" y="2880360"/>
            <a:ext cx="1417320" cy="502920"/>
          </a:xfrm>
          <a:prstGeom prst="ellipse">
            <a:avLst/>
          </a:prstGeom>
          <a:solidFill>
            <a:srgbClr val="F4F7FB"/>
          </a:solidFill>
          <a:ln w="15875">
            <a:solidFill>
              <a:srgbClr val="4A6FA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692640" y="28803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418320" y="2948940"/>
            <a:ext cx="274320" cy="0"/>
          </a:xfrm>
          <a:prstGeom prst="line">
            <a:avLst/>
          </a:prstGeom>
          <a:noFill/>
          <a:ln w="12700">
            <a:solidFill>
              <a:srgbClr val="4A6FA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" y="3703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models a Many-to-Many (N:M) relationship: one Student enrolls in many Courses, and one Course has many Students enrolled.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Symbols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457200" y="466344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4663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— a real-world object or concept (e.g. Student, Course)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080760" y="466344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263640" y="4663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— a property of an entity (underlined = key attribute)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457200" y="544068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0080" y="5440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— an association between two or more entities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080760" y="5440680"/>
            <a:ext cx="5394960" cy="640080"/>
          </a:xfrm>
          <a:prstGeom prst="roundRect">
            <a:avLst>
              <a:gd name="adj" fmla="val 8571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263640" y="5440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N, M: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— how many instances participate on each side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Software Requirement Analysis &amp; Specification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457200" y="65105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Chen ER notation, per Sommerville (2015); Aggarwal &amp; Singh (2008)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icons/docu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DOCUMENTATION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5669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 Specification (SRS)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6492240" cy="1417320"/>
          </a:xfrm>
          <a:prstGeom prst="roundRect">
            <a:avLst>
              <a:gd name="adj" fmla="val 5161"/>
            </a:avLst>
          </a:prstGeom>
          <a:solidFill>
            <a:srgbClr val="EAF0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572768"/>
            <a:ext cx="5852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pPr indent="0" marL="0">
              <a:buNone/>
            </a:pPr>
            <a:r>
              <a:rPr lang="en-US" sz="1500" i="1" dirty="0">
                <a:solidFill>
                  <a:srgbClr val="2436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formal document that completely describes what the proposed software must do, without describing how it will do it.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017520"/>
            <a:ext cx="6492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as the point of agreement (a de-facto contract) between customer and developer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both functional requirements (what the system does) and non-functional requirements (performance, security, usability constraints)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baseline for cost &amp; schedule estimation, project planning, and later validation &amp; verification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269480" y="1417320"/>
            <a:ext cx="4480560" cy="4617720"/>
          </a:xfrm>
          <a:prstGeom prst="roundRect">
            <a:avLst>
              <a:gd name="adj" fmla="val 1633"/>
            </a:avLst>
          </a:prstGeom>
          <a:solidFill>
            <a:srgbClr val="1B2A4A"/>
          </a:solidFill>
          <a:ln/>
        </p:spPr>
      </p:sp>
      <p:pic>
        <p:nvPicPr>
          <p:cNvPr id="10" name="Image 1" descr="icons/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6916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183880" y="17099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the SRS?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7680960" y="2331720"/>
            <a:ext cx="384048" cy="384048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68096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8183880" y="2286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8183880" y="25877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6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needs, and validate that the document reflects them accurately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680960" y="3227832"/>
            <a:ext cx="384048" cy="384048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68096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8183880" y="31821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8183880" y="34838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6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 plan schedule, cost, staffing and the bid/proposal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680960" y="4123944"/>
            <a:ext cx="384048" cy="384048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8183880" y="40782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8183880" y="43799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6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as the specification to design and build against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680960" y="5020056"/>
            <a:ext cx="384048" cy="384048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68096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8183880" y="497433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</a:t>
            </a:r>
            <a:endParaRPr 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8183880" y="52760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6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test cases and acceptance criteria directly from it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Software Requirement Analysis &amp; Specification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457200" y="65105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Sommerville (2015); IEEE Std 830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icons/check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DOCUMENTATION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5669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Characteristics of a Good SRS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5440680" cy="1005840"/>
          </a:xfrm>
          <a:prstGeom prst="roundRect">
            <a:avLst>
              <a:gd name="adj" fmla="val 6364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00784"/>
            <a:ext cx="438912" cy="438912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8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810512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5087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234440" y="181965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stated requirement is one the software must actually meet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63640" y="1417320"/>
            <a:ext cx="5440680" cy="1005840"/>
          </a:xfrm>
          <a:prstGeom prst="roundRect">
            <a:avLst>
              <a:gd name="adj" fmla="val 6364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46520" y="1700784"/>
            <a:ext cx="438912" cy="438912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181051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040880" y="15087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Unambiguous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7040880" y="181965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only one possible interpretation for every requirement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2624328"/>
            <a:ext cx="5440680" cy="1005840"/>
          </a:xfrm>
          <a:prstGeom prst="roundRect">
            <a:avLst>
              <a:gd name="adj" fmla="val 6364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" y="2907792"/>
            <a:ext cx="438912" cy="438912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8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01752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27157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1234440" y="302666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significant requirements &amp; responses to all inputs are included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263640" y="2624328"/>
            <a:ext cx="5440680" cy="1005840"/>
          </a:xfrm>
          <a:prstGeom prst="roundRect">
            <a:avLst>
              <a:gd name="adj" fmla="val 6364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46520" y="2907792"/>
            <a:ext cx="438912" cy="438912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23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3017520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040880" y="27157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7040880" y="302666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requirement conflicts with another requirement in the document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57200" y="3831336"/>
            <a:ext cx="5440680" cy="1005840"/>
          </a:xfrm>
          <a:prstGeom prst="roundRect">
            <a:avLst>
              <a:gd name="adj" fmla="val 6364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40080" y="4114800"/>
            <a:ext cx="438912" cy="438912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28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224528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234440" y="39227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1234440" y="42336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are ordered by importance and/or stability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263640" y="3831336"/>
            <a:ext cx="5440680" cy="1005840"/>
          </a:xfrm>
          <a:prstGeom prst="roundRect">
            <a:avLst>
              <a:gd name="adj" fmla="val 6364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446520" y="4114800"/>
            <a:ext cx="438912" cy="438912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3" name="Image 6" descr="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4224528"/>
            <a:ext cx="219456" cy="219456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040880" y="39227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</a:t>
            </a:r>
            <a:endParaRPr lang="en-US" sz="1400" dirty="0"/>
          </a:p>
        </p:txBody>
      </p:sp>
      <p:sp>
        <p:nvSpPr>
          <p:cNvPr id="35" name="Text 26"/>
          <p:cNvSpPr txBox="1"/>
          <p:nvPr/>
        </p:nvSpPr>
        <p:spPr>
          <a:xfrm>
            <a:off x="7040880" y="42336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exists a finite, cost-effective process to check it is satisfied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457200" y="5038344"/>
            <a:ext cx="5440680" cy="1005840"/>
          </a:xfrm>
          <a:prstGeom prst="roundRect">
            <a:avLst>
              <a:gd name="adj" fmla="val 6364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640080" y="5321808"/>
            <a:ext cx="438912" cy="438912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8" name="Image 7" descr="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5431536"/>
            <a:ext cx="219456" cy="219456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234440" y="51297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Modifiable</a:t>
            </a:r>
            <a:endParaRPr lang="en-US" sz="1400" dirty="0"/>
          </a:p>
        </p:txBody>
      </p:sp>
      <p:sp>
        <p:nvSpPr>
          <p:cNvPr id="40" name="Text 30"/>
          <p:cNvSpPr txBox="1"/>
          <p:nvPr/>
        </p:nvSpPr>
        <p:spPr>
          <a:xfrm>
            <a:off x="1234440" y="5440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so changes can be made easily, consistently &amp; completely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6263640" y="5038344"/>
            <a:ext cx="5440680" cy="1005840"/>
          </a:xfrm>
          <a:prstGeom prst="roundRect">
            <a:avLst>
              <a:gd name="adj" fmla="val 6364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6446520" y="5321808"/>
            <a:ext cx="438912" cy="438912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43" name="Image 8" descr="icon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6248" y="5431536"/>
            <a:ext cx="219456" cy="219456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7040880" y="51297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</a:t>
            </a:r>
            <a:endParaRPr lang="en-US" sz="1400" dirty="0"/>
          </a:p>
        </p:txBody>
      </p:sp>
      <p:sp>
        <p:nvSpPr>
          <p:cNvPr id="45" name="Text 34"/>
          <p:cNvSpPr txBox="1"/>
          <p:nvPr/>
        </p:nvSpPr>
        <p:spPr>
          <a:xfrm>
            <a:off x="7040880" y="5440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of each requirement is clear, and it can be referenced forward into design/test</a:t>
            </a:r>
            <a:endParaRPr lang="en-US" sz="1100" dirty="0"/>
          </a:p>
        </p:txBody>
      </p:sp>
      <p:sp>
        <p:nvSpPr>
          <p:cNvPr id="46" name="Text 35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Software Requirement Analysis &amp; Specification</a:t>
            </a:r>
            <a:endParaRPr lang="en-US" sz="900" dirty="0"/>
          </a:p>
        </p:txBody>
      </p:sp>
      <p:sp>
        <p:nvSpPr>
          <p:cNvPr id="47" name="Text 36"/>
          <p:cNvSpPr txBox="1"/>
          <p:nvPr/>
        </p:nvSpPr>
        <p:spPr>
          <a:xfrm>
            <a:off x="457200" y="65105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IEEE Std 830; Sommerville (2015)</a:t>
            </a:r>
            <a:endParaRPr lang="en-US" sz="900" dirty="0"/>
          </a:p>
        </p:txBody>
      </p:sp>
      <p:sp>
        <p:nvSpPr>
          <p:cNvPr id="48" name="Text 3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icons/f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DOCUMENTATION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5669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 of an SRS Document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11247120" cy="96012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5773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15773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4630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4343400" y="14630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Scope, Definitions/Acronyms, References, Document Overview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478024"/>
            <a:ext cx="112471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2683764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5800" y="26837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256946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Description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4343400" y="2569464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Perspective, Product Functions, User Characteristics, Constraints, Assumptions &amp; Dependencies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584448"/>
            <a:ext cx="11247120" cy="1371600"/>
          </a:xfrm>
          <a:prstGeom prst="roundRect">
            <a:avLst>
              <a:gd name="adj" fmla="val 4667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3995928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" y="3995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1463040" y="3675888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Requirements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4343400" y="3675888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Requirements, External Interface Requirements, Performance Requirements, Design Constraints, Non-Functional Attributes (reliability, security, portability)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5102352"/>
            <a:ext cx="112471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5800" y="5308092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5800" y="53080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1463040" y="519379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Appendices &amp; Index</a:t>
            </a:r>
            <a:endParaRPr lang="en-US" sz="1450" dirty="0"/>
          </a:p>
        </p:txBody>
      </p:sp>
      <p:sp>
        <p:nvSpPr>
          <p:cNvPr id="25" name="Text 22"/>
          <p:cNvSpPr txBox="1"/>
          <p:nvPr/>
        </p:nvSpPr>
        <p:spPr>
          <a:xfrm>
            <a:off x="4343400" y="519379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data, diagrams and a cross-reference index for traceability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Software Requirement Analysis &amp; Specification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5105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follows IEEE Std 830 recommended practice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657600" cy="36576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4" name="Image 0" descr="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0700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207008" y="5669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6642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engineering 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C8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vague stakeholder needs into an agreed, structured set of requirements through a 5-step process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822960" y="278892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27157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Elicitation techniques 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C8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FAST and QFD add structure and rigor to the conversation between customers and developers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22960" y="384048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376732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models 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C8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DFD, Use Case, Sequence, Class and ER diagrams — make requirements precise, visual and verifiable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822960" y="489204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81888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SRS 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C8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everything into one authoritative document that is correct, unambiguous, complete and traceable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Software Requirement Analysis &amp; Specification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534924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07008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MATERIAL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5669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&amp; Reference Books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Books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965960"/>
            <a:ext cx="685800" cy="502920"/>
          </a:xfrm>
          <a:prstGeom prst="roundRect">
            <a:avLst>
              <a:gd name="adj" fmla="val 50909"/>
            </a:avLst>
          </a:prstGeom>
          <a:solidFill>
            <a:srgbClr val="1B2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19659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1828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K. Aggarwal &amp; Yogesh Singh —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Engineering, 3rd Edition, New Age International Publishers, 2008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4F7FB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880360"/>
            <a:ext cx="685800" cy="502920"/>
          </a:xfrm>
          <a:prstGeom prst="roundRect">
            <a:avLst>
              <a:gd name="adj" fmla="val 50909"/>
            </a:avLst>
          </a:prstGeom>
          <a:solidFill>
            <a:srgbClr val="1B2A4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28803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2743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Sommerville —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Engineering, 10th Edition, Pearson Education, 2015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Books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7200" y="4206240"/>
            <a:ext cx="11247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4297680"/>
            <a:ext cx="640080" cy="457200"/>
          </a:xfrm>
          <a:prstGeom prst="roundRect">
            <a:avLst>
              <a:gd name="adj" fmla="val 50000"/>
            </a:avLst>
          </a:prstGeom>
          <a:solidFill>
            <a:srgbClr val="4A6FA5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420624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Jibitesh Mishra &amp; Ashok Mohanty —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Engineering, Pearson Education, 2011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5001768"/>
            <a:ext cx="11247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5093208"/>
            <a:ext cx="640080" cy="457200"/>
          </a:xfrm>
          <a:prstGeom prst="roundRect">
            <a:avLst>
              <a:gd name="adj" fmla="val 50000"/>
            </a:avLst>
          </a:prstGeom>
          <a:solidFill>
            <a:srgbClr val="4A6FA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0080" y="5093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RB2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508760" y="500176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Roger S. Pressman &amp; Bruce R. Maxim —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Engineering: A Practitioner’s Approach, 9th Edition, McGraw-Hill Education, 2019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5797296"/>
            <a:ext cx="11247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7D2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0080" y="5888736"/>
            <a:ext cx="640080" cy="457200"/>
          </a:xfrm>
          <a:prstGeom prst="roundRect">
            <a:avLst>
              <a:gd name="adj" fmla="val 50000"/>
            </a:avLst>
          </a:prstGeom>
          <a:solidFill>
            <a:srgbClr val="4A6FA5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40080" y="58887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1508760" y="5797296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F. Peters &amp; Witold Pedrycz —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Engineering: An Engineering Approach, Wiley India / John Wiley &amp; Sons, 2000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– Software Requirement Analysis &amp; Specification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2026-09-06T18:24:09Z</dcterms:created>
  <dcterms:modified xsi:type="dcterms:W3CDTF">2026-09-06T18:24:09Z</dcterms:modified>
</cp:coreProperties>
</file>