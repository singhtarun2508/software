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292608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Crisis &amp; Life Cycle Models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 •  Prototype  •  Spiral  •  Iterative Enhancement  •  Agile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4663440"/>
            <a:ext cx="219456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 |  Introduction to Software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87452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8952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Crisis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in early software development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953512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295351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044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Life Cycle Models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429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a structured process (SDLC)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4032504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403250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412394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Model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507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classical, linear-sequential approach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5111496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8952" y="511149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20293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Model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5869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 learn requirements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87452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91072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1965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Model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35000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Risk-driven, iterative development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953512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91072" y="295351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044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Enhancement Model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429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delivery of working versions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4032504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1072" y="403250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12394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Model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450799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customer-centric development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Software Crisis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coined in the late 1960s (NATO Software Engineering Conference, 1968) to describe the difficulty of writing useful, efficient, correct software — on time and within budget.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246120"/>
            <a:ext cx="5669280" cy="2651760"/>
          </a:xfrm>
          <a:prstGeom prst="roundRect">
            <a:avLst>
              <a:gd name="adj" fmla="val 3448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problems encountered in developing large, complex software systems using ad-hoc, undisciplined methods — where projects routinely failed to meet requirements, deadlines, and budgets.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0" y="160020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E8F1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 Growing Gap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5394960"/>
            <a:ext cx="4297680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5394960"/>
            <a:ext cx="0" cy="-301752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5394960"/>
            <a:ext cx="3931920" cy="-274320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power 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40880" y="5394960"/>
            <a:ext cx="3931920" cy="-100584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productivity ↑ (slower)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complex software grew far faster than our ability to produce it reliably.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Symptoms &amp; Causes of the Crisis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schedule overruns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routinely exceeded budgets and deadlines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quality software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bugs, poor reliability, difficult maintenance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7532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F1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1920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560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requirements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017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often did not meet user needs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project visibility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was hard to measure or manage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F1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634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09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maintenance cost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consumed the majority of the budget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7532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8F1F5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5039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1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709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of skilled staff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58200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 developers outpaced supply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Life Cycle Models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23444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Development Life Cycle (SDLC) model is a structured, ordered set of phases (or activities) that a team follows to plan, build, test, deliver, and maintain software.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emerged as a direct response to the Software Crisis — to bring discipline, predictability, and quality to development.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1691640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84848" y="16916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16916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 rot="10800000">
            <a:off x="9006840" y="2240280"/>
            <a:ext cx="182880" cy="109728"/>
          </a:xfrm>
          <a:prstGeom prst="triangle">
            <a:avLst/>
          </a:prstGeom>
          <a:solidFill>
            <a:srgbClr val="E8F1F5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404872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3B8E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84848" y="240487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40487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9006840" y="2953512"/>
            <a:ext cx="182880" cy="109728"/>
          </a:xfrm>
          <a:prstGeom prst="triangle">
            <a:avLst/>
          </a:prstGeom>
          <a:solidFill>
            <a:srgbClr val="E8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3118104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84848" y="311810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1181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(Coding)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 rot="10800000">
            <a:off x="9006840" y="3666744"/>
            <a:ext cx="182880" cy="109728"/>
          </a:xfrm>
          <a:prstGeom prst="triangle">
            <a:avLst/>
          </a:prstGeom>
          <a:solidFill>
            <a:srgbClr val="E8F1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3831336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3B8E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84848" y="383133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83133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 rot="10800000">
            <a:off x="9006840" y="4379976"/>
            <a:ext cx="182880" cy="109728"/>
          </a:xfrm>
          <a:prstGeom prst="triangle">
            <a:avLst/>
          </a:prstGeom>
          <a:solidFill>
            <a:srgbClr val="E8F1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4544568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84848" y="454456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45445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 rot="10800000">
            <a:off x="9006840" y="5093208"/>
            <a:ext cx="182880" cy="109728"/>
          </a:xfrm>
          <a:prstGeom prst="triangle">
            <a:avLst/>
          </a:prstGeom>
          <a:solidFill>
            <a:srgbClr val="E8F1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5257800"/>
            <a:ext cx="4846320" cy="530352"/>
          </a:xfrm>
          <a:prstGeom prst="roundRect">
            <a:avLst>
              <a:gd name="adj" fmla="val 13793"/>
            </a:avLst>
          </a:prstGeom>
          <a:solidFill>
            <a:srgbClr val="3B8EA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84848" y="525780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269480" y="52578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classical, linear-sequential model — each phase must complete before the next begins.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565910" y="3017520"/>
            <a:ext cx="1043788" cy="541782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69618" y="2898648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69618" y="28986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49728" y="3675888"/>
            <a:ext cx="1043788" cy="541782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53435" y="3557016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53435" y="3557016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33545" y="4334256"/>
            <a:ext cx="1043788" cy="541782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37253" y="4215384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37253" y="421538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17363" y="4992624"/>
            <a:ext cx="1043788" cy="541782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21070" y="4873752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21070" y="487375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01180" y="5650992"/>
            <a:ext cx="1043788" cy="541782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04888" y="5532120"/>
            <a:ext cx="16002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04888" y="553212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trait: strictly sequential — output of one phase is the input to the next; no overlap.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— Strengths, Weaknesses &amp; Use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965960"/>
            <a:ext cx="34290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 &amp; manage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milestones &amp; documentation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well-understood, stable requirements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schedule and track progress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B23A4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1965960"/>
            <a:ext cx="3429000" cy="2743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519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working software until late in cycle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accommodate changing requirements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531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Risks/errors found late are costly to fix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531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requirements can be frozen up front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095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9560" y="1965960"/>
            <a:ext cx="3429000" cy="2743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095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1107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short-duration projects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1107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clear &amp; fixed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107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is well understood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1107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compliance-heavy projects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Prototyping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requirements are unclear — a working prototype helps clarify what the customer really needs.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Basic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97480" y="3383280"/>
            <a:ext cx="411480" cy="0"/>
          </a:xfrm>
          <a:prstGeom prst="line">
            <a:avLst/>
          </a:prstGeom>
          <a:noFill/>
          <a:ln w="28575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54680" y="28803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3383280"/>
            <a:ext cx="411480" cy="0"/>
          </a:xfrm>
          <a:prstGeom prst="line">
            <a:avLst/>
          </a:prstGeom>
          <a:noFill/>
          <a:ln w="28575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623560" y="28803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3B8E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23560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3383280"/>
            <a:ext cx="411480" cy="0"/>
          </a:xfrm>
          <a:prstGeom prst="line">
            <a:avLst/>
          </a:prstGeom>
          <a:noFill/>
          <a:ln w="28575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092440" y="288036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92440" y="2880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75420" y="3886200"/>
            <a:ext cx="0" cy="50292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8780" y="4389120"/>
            <a:ext cx="7406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8780" y="3886200"/>
            <a:ext cx="0" cy="50292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668780" y="4443984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&amp; repeat until the customer approves the prototype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074920"/>
            <a:ext cx="9372600" cy="1051560"/>
          </a:xfrm>
          <a:prstGeom prst="roundRect">
            <a:avLst>
              <a:gd name="adj" fmla="val 8696"/>
            </a:avLst>
          </a:prstGeom>
          <a:solidFill>
            <a:srgbClr val="E8F1F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5074920"/>
            <a:ext cx="8915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discarded (or evolved) and the actual system is engineered using the now-clarified requirements.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Prototyping — Strengths &amp; Weaknesses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029968"/>
            <a:ext cx="5120640" cy="301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737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60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Clarifies unclear or evolving requirements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4472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015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customer/user involvement early 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28853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428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 of building the wrong product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5129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129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08406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communication between users and developers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80760" y="17373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17373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B23A48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2029968"/>
            <a:ext cx="5120640" cy="30175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80760" y="1737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355080" y="2606040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560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may mistake prototype for final system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55080" y="3447288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4015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lead to poor design if rushed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55080" y="4288536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5508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2428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 &amp; time to build the prototype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55080" y="5129784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55080" y="5129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508406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incomplete problem analysis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Spiral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Barry Boehm (1988). Combines iterative development with systematic, risk-driven controlled aspects of the waterfall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971800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044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Determine Objectives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&amp; constraints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867912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941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&amp; Resolve Risks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79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prototyping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4764024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837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 &amp; Test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175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next-level product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660136"/>
            <a:ext cx="429768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733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Plan Next Iteration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60716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plan the next phase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32320" y="1920240"/>
            <a:ext cx="3474720" cy="3474720"/>
          </a:xfrm>
          <a:prstGeom prst="ellipse">
            <a:avLst/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2331720"/>
            <a:ext cx="2651760" cy="2651760"/>
          </a:xfrm>
          <a:prstGeom prst="ellipse">
            <a:avLst/>
          </a:prstGeom>
          <a:ln w="28575">
            <a:solidFill>
              <a:srgbClr val="3B8E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2743200"/>
            <a:ext cx="1828800" cy="1828800"/>
          </a:xfrm>
          <a:prstGeom prst="ellipse">
            <a:avLst/>
          </a:prstGeom>
          <a:ln w="28575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3154680"/>
            <a:ext cx="1005840" cy="1005840"/>
          </a:xfrm>
          <a:prstGeom prst="ellipse">
            <a:avLst/>
          </a:prstGeom>
          <a:ln w="28575">
            <a:solidFill>
              <a:srgbClr val="3B8EA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1737360"/>
            <a:ext cx="0" cy="3840480"/>
          </a:xfrm>
          <a:prstGeom prst="line">
            <a:avLst/>
          </a:prstGeom>
          <a:noFill/>
          <a:ln w="12700">
            <a:solidFill>
              <a:srgbClr val="E8F1F5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949440" y="3657600"/>
            <a:ext cx="3840480" cy="0"/>
          </a:xfrm>
          <a:prstGeom prst="line">
            <a:avLst/>
          </a:prstGeom>
          <a:noFill/>
          <a:ln w="12700">
            <a:solidFill>
              <a:srgbClr val="E8F1F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613648" y="3401568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13648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32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5623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increases outward with each loop → toward a complete system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Spiral — Strengths, Weaknesses &amp; Use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965960"/>
            <a:ext cx="34290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emphasis on risk analysis &amp; management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large, complex, high-risk projects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 changes at each iteration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prototypes give continuous feedback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B23A4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1965960"/>
            <a:ext cx="3429000" cy="2743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519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— needs risk-assessment expertise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costly for smaller/low-risk projects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531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strong documentation &amp; management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531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heavily depends on the risk analyst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095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9560" y="1965960"/>
            <a:ext cx="3429000" cy="2743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095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1107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mission-critical systems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1107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high &amp; evolving risk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107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Long-term, budget-flexible projects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1107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Novel, poorly understood domains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Enhancement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incrementally: a core version is delivered first, then enhanced with new features in successive iterations.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057400" cy="10972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5212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532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/ basic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4952" y="4572000"/>
            <a:ext cx="265176" cy="0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3520440"/>
            <a:ext cx="2057400" cy="1600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37560" y="5212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5532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Enhanced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96712" y="4320540"/>
            <a:ext cx="265176" cy="0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3017520"/>
            <a:ext cx="2057400" cy="2103120"/>
          </a:xfrm>
          <a:prstGeom prst="rect">
            <a:avLst/>
          </a:prstGeom>
          <a:solidFill>
            <a:srgbClr val="3B8EA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89320" y="5212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5532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Additional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48472" y="4069080"/>
            <a:ext cx="265176" cy="0"/>
          </a:xfrm>
          <a:prstGeom prst="line">
            <a:avLst/>
          </a:prstGeom>
          <a:noFill/>
          <a:ln w="2540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78240" y="2514600"/>
            <a:ext cx="2057400" cy="26060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41080" y="5212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5532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complete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functionality grows with each release; each iteration is planned, designed, coded and tested like a mini-project.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Enhancement — Strengths &amp; Weaknesses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373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2029968"/>
            <a:ext cx="5120640" cy="3017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737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560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delivered early &amp; often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44728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015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test &amp; debug smaller increments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428853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428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risk — problems found sooner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512978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129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508406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to incorporate changing requirements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080760" y="173736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17373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B23A48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0760" y="2029968"/>
            <a:ext cx="5120640" cy="30175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80760" y="17373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355080" y="2606040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560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good upfront architectural planning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55080" y="3447288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40156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can exceed the waterfall approach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355080" y="4288536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55080" y="4288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42428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clear definition of each increment's scope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55080" y="5129784"/>
            <a:ext cx="310896" cy="310896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55080" y="5129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48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508406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can be more complex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iterative, incremental methods (Scrum, XP, Kanban…) built around the 2001 Agile Manifesto, favoring flexibility, collaboration, and rapid delivery over rigid planning.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1623060" y="26974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230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&amp; Interactions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processes and tools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2468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331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57700" y="26974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5770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comprehensive documentation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468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3315C"/>
          </a:solidFill>
          <a:ln/>
        </p:spPr>
      </p:sp>
      <p:sp>
        <p:nvSpPr>
          <p:cNvPr id="17" name="Shape 15"/>
          <p:cNvSpPr/>
          <p:nvPr/>
        </p:nvSpPr>
        <p:spPr>
          <a:xfrm>
            <a:off x="7292340" y="26974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923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Collaboration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contract negotiation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246888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331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26980" y="269748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269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33832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Change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following a fixed plan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happens in short cycles called "sprints" (typically 1–4 weeks), each producing a potentially shippable increment.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— The Sprint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069080" y="2123694"/>
            <a:ext cx="3931920" cy="3342132"/>
          </a:xfrm>
          <a:prstGeom prst="ellipse">
            <a:avLst/>
          </a:prstGeom>
          <a:ln w="38100">
            <a:solidFill>
              <a:srgbClr val="E8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6360" y="1689354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6360" y="168935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68931" y="2524887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68931" y="2524887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68931" y="4195953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68931" y="4195953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(Design/Build/Test)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66360" y="5031486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3B8E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66360" y="5031486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63789" y="4195953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1331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3789" y="4195953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63789" y="2524887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6E7F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63789" y="2524887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33375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77840" y="3337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— Strengths, Weaknesses &amp; Use Cases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965960"/>
            <a:ext cx="34290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delivery of working software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Embraces changing requirements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customer feedback &amp; involvement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team collaboration &amp; transparency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B23A48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1965960"/>
            <a:ext cx="3429000" cy="274320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519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predictable cost/schedule upfront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highly engaged, available customers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4531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can be minimal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531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experienced, self-organizing teams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09560" y="169164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E8F1F5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9560" y="1691640"/>
            <a:ext cx="3429000" cy="548640"/>
          </a:xfrm>
          <a:prstGeom prst="roundRect">
            <a:avLst>
              <a:gd name="adj" fmla="val 16667"/>
            </a:avLst>
          </a:prstGeom>
          <a:solidFill>
            <a:srgbClr val="F2A541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9560" y="1965960"/>
            <a:ext cx="3429000" cy="2743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09560" y="16916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110728" y="246888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with evolving requirements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110728" y="32918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Fast-changing markets / startups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110728" y="411480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needing early user feedback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110728" y="493776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Cross-functional, co-located teams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Life Cycle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1737360" cy="594360"/>
          </a:xfrm>
          <a:prstGeom prst="rect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91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1691640"/>
            <a:ext cx="1737360" cy="594360"/>
          </a:xfrm>
          <a:prstGeom prst="rect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1691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1691640"/>
            <a:ext cx="1920240" cy="594360"/>
          </a:xfrm>
          <a:prstGeom prst="rect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690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Handling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691640"/>
            <a:ext cx="1920240" cy="594360"/>
          </a:xfrm>
          <a:prstGeom prst="rect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0" y="1691640"/>
            <a:ext cx="3657600" cy="594360"/>
          </a:xfrm>
          <a:prstGeom prst="rect">
            <a:avLst/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2286000"/>
            <a:ext cx="173736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" y="2286000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331720" y="2286000"/>
            <a:ext cx="173736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04872" y="2286000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069080" y="2286000"/>
            <a:ext cx="192024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42232" y="228600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/ reactive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89320" y="2286000"/>
            <a:ext cx="192024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62472" y="2286000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09560" y="2286000"/>
            <a:ext cx="365760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82712" y="2286000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fixed-requirement projects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2999232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" y="2999232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2331720" y="2999232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04872" y="2999232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69080" y="2999232"/>
            <a:ext cx="1920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42232" y="2999232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89320" y="2999232"/>
            <a:ext cx="1920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062472" y="2999232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(early)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909560" y="2999232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82712" y="2999232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/ evolving requirements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94360" y="3712464"/>
            <a:ext cx="173736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7512" y="3712464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331720" y="3712464"/>
            <a:ext cx="173736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04872" y="3712464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069080" y="3712464"/>
            <a:ext cx="192024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42232" y="3712464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(built-in)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989320" y="3712464"/>
            <a:ext cx="192024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062472" y="3712464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909560" y="3712464"/>
            <a:ext cx="365760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82712" y="3712464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high-risk, complex systems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94360" y="4425696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67512" y="4425696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2331720" y="4425696"/>
            <a:ext cx="1737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04872" y="4425696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069080" y="4425696"/>
            <a:ext cx="1920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142232" y="4425696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989320" y="4425696"/>
            <a:ext cx="1920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62472" y="4425696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909560" y="4425696"/>
            <a:ext cx="3657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82712" y="4425696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needing early partial delivery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94360" y="5138928"/>
            <a:ext cx="173736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67512" y="5138928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2331720" y="5138928"/>
            <a:ext cx="173736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404872" y="5138928"/>
            <a:ext cx="1591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069080" y="5138928"/>
            <a:ext cx="192024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142232" y="5138928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989320" y="5138928"/>
            <a:ext cx="192024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062472" y="5138928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7909560" y="5138928"/>
            <a:ext cx="3657600" cy="713232"/>
          </a:xfrm>
          <a:prstGeom prst="rect">
            <a:avLst/>
          </a:prstGeom>
          <a:solidFill>
            <a:srgbClr val="E8F1F5"/>
          </a:solidFill>
          <a:ln w="9525">
            <a:solidFill>
              <a:srgbClr val="D5DE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982712" y="5138928"/>
            <a:ext cx="35112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Fast-changing, evolving requirements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554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Crisis exposed the need for disciplined, engineering-based approaches to building software.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258568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1284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models provide structured processes to manage requirements, design, development, testing and maintenance.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2916936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8712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suits stable, well-defined projects; Prototyping clarifies unclear requirements.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3575304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5295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Spiral emphasizes risk management for large, complex systems; Iterative Enhancement delivers value incrementally.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4233672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1879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favors flexibility, collaboration and continuous delivery for fast-changing environments.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" y="489204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846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is universally best — choose based on project size, risk, requirement stability, and customer involvement.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Software Engineering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2026-09-03T04:28:10Z</dcterms:created>
  <dcterms:modified xsi:type="dcterms:W3CDTF">2026-09-03T04:28:10Z</dcterms:modified>
</cp:coreProperties>
</file>