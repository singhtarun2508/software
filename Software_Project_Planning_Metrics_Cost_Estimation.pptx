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377440" cy="2377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Project Planning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Size Estimation, and Cost Estimation with COCOMO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10424160" cy="1371600"/>
          </a:xfrm>
          <a:prstGeom prst="roundRect">
            <a:avLst>
              <a:gd name="adj" fmla="val 5333"/>
            </a:avLst>
          </a:prstGeom>
          <a:solidFill>
            <a:srgbClr val="1A235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416052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Software Metrics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Product / Process / Project Metrics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LOC &amp; Function Count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Halstead's Software Science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COCOMO: Basic &amp; Intermediate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225296"/>
          </a:xfrm>
          <a:prstGeom prst="roundRect">
            <a:avLst>
              <a:gd name="adj" fmla="val 597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965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2821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Project Planning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031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planning activity and why it matters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440680" cy="1225296"/>
          </a:xfrm>
          <a:prstGeom prst="roundRect">
            <a:avLst>
              <a:gd name="adj" fmla="val 597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1965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72821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Metrics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1031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need, and classification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5440680" cy="1225296"/>
          </a:xfrm>
          <a:prstGeom prst="roundRect">
            <a:avLst>
              <a:gd name="adj" fmla="val 597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30098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300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20954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Metrics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8444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Process, and Project metrics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081528"/>
            <a:ext cx="5440680" cy="1225296"/>
          </a:xfrm>
          <a:prstGeom prst="roundRect">
            <a:avLst>
              <a:gd name="adj" fmla="val 597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30098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3300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20954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Estimation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358444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(LOC) and Function Point Count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62856"/>
            <a:ext cx="5440680" cy="1225296"/>
          </a:xfrm>
          <a:prstGeom prst="roundRect">
            <a:avLst>
              <a:gd name="adj" fmla="val 597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78231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782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6908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Halstead's Software Science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506577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Operators, operands and derived measures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4562856"/>
            <a:ext cx="5440680" cy="1225296"/>
          </a:xfrm>
          <a:prstGeom prst="roundRect">
            <a:avLst>
              <a:gd name="adj" fmla="val 597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37960" y="478231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37960" y="4782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269480" y="46908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Estimation &amp; COCOMO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269480" y="506577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estimation, Basic and Intermediate models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Project Planning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major activity performed by a project manager, undertaken before technical work begins and continued as the project proceeds.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537960" cy="4206240"/>
          </a:xfrm>
          <a:prstGeom prst="roundRect">
            <a:avLst>
              <a:gd name="adj" fmla="val 1739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planning is essential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5943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roadmap that defines the tasks and milestones needed to keep a project reasonably on schedule.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resources (people, hardware, software) required to complete the work.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cost and schedule so that management can commit to realistic delivery dates and budgets.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risk and uncertainty by identifying problems early, before they become costly.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basis for monitoring and controlling progress throughout the project life cycle.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1965960"/>
            <a:ext cx="434340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63524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Planning Tasks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60604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size / scope of the software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cost and effort required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schedule and duration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plan for risks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resources and staff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metrics for tracking progress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Metrics — Definition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572768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metric is a quantitative measure of the degree to which a system, component, or process possesses a given attribute — it converts a software characteristic into a number or a rating.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simple terms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allow software and the process that produces it to be measured objectively rather than subjectively.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translate quality attributes such as reliability, maintainability, or complexity into measurable numbers.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is applied to the software process with the intent of improving it continuously.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3063240"/>
            <a:ext cx="5166360" cy="3291840"/>
          </a:xfrm>
          <a:prstGeom prst="roundRect">
            <a:avLst>
              <a:gd name="adj" fmla="val 2222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Terms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611880"/>
            <a:ext cx="4572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quantitative indication of the extent, amount, dimension or size of an attribute of a product/process.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determining a measure.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quantitative measure of the degree to which a system, component or process possesses a given attribute.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 (or a combination of metrics) that provides insight into the software process, project, or product.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Software Metrics?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Assessment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guesswork and subjective judgement with quantifiable, repeatable data about the software and process.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88536" y="1417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17136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1713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Estimation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17136" y="2651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metrics (size, effort, defects) feed cost and schedule estimation models such as COCOMO.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28432" y="1417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57032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5703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57032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Control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57032" y="2651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such as defect density and complexity help identify weak modules before they fail in the field.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46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Improvement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2120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process metrics over time reveals bottlenecks and supports continuous improvement (e.g., CMM).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88536" y="3977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17136" y="4206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17136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17136" y="4846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Tracking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17136" y="52120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metrics let managers monitor schedule, effort, and cost variance against the plan.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28432" y="3977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57032" y="4206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57032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57032" y="4846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Informed Decision Making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257032" y="52120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management the data needed to make realistic commitments to customers and stakeholders.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Types of Software Metrics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are broadly classified according to what they measure: the product being built, the process used to build it, or the project undertaken to build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A235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43100" y="26974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4310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490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Metrics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519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characteristics of the software product itself — size, complexity, design features, performance, quality.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8536" y="23774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A235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82996" y="26974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82996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471416" y="37490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Metrics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62856" y="42519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effectiveness and efficiency of the process used to produce the software — used for long-term improvement.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28432" y="23774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A235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22892" y="26974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22892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Pj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211312" y="37490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Metrics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02752" y="42519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project characteristics and execution — effort, cost, staffing, schedule — used by managers to adjust the plan.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METRICS —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Metrics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metrics measure characteristics of the software product at any stage of its development — from requirements through delivered code.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Product Metrics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metrics — 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(LOC), Function Points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metrics — 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McCabe's Cyclomatic Complexity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Halstead's Software Science — 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volume, effort measures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 — 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density, reliability, correctness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metrics — 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coupling, cohesion, fan-in/fan-out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Help Assess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37744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Understandability and readability of the code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and ease of future modification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and hence likely error-proneness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 of modules and components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size, used as an input to cost and effort estimation models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METRICS — PROCESS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Metrics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metrics are collected across all projects and over long periods of time to enable assessment and improvement of the software process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strategically, focusing on improving the software process over the long term rather than a single project.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an organization determine where its process is strong and where it needs improvement.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basis for models like the Capability Maturity Model (CMM) that grade process maturity.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often kept confidential to individual teams to avoid misuse for personnel evaluation.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Examples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33172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and time spent in each phase (requirements, design, coding, testing)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found per review / inspection hour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discovered before and after release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required to fix a reported defect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— output (e.g., LOC or FP) per person-month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change requests over time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METRICS —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Metrics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metrics describe project characteristics and execution and are used by a project manager and software team to adapt project workflow and technical activities.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tactically, to track and adjust a single, ongoing project.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minimize the development schedule by making the necessary adjustments to avoid delays.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assess product quality on an ongoing basis, and where necessary, modify the technical approach.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on every project and combined with other projects' data to become part of process metrics.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Examples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33172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developers and their effort (person-months)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cost incurred versus budgeted cost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— actual progress versus planned milestones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pattern across the project timeline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errors uncovered during each phase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the software being produced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ESTIMATION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Estimating the Size of Software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project's cost and schedule are largely driven by the size of the software to be built, accurate size estimation is the starting point of every estimation model.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1A235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 of Code (LOC)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9776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number of executable source lines to gauge program size directly.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88536" y="242316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1A235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17136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3337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Count (FP)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17136" y="39776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functional features of the software (inputs, outputs, files, inquiries) independent of language.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28432" y="242316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1A235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57032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257032" y="3337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Halstead's Software Science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57032" y="39776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counts of operators and operands to derive length, volume, effort and related measures.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ESTIMATION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 of Code (LOC)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is one of the earliest and simplest size-oriented metrics — the size of a program is estimated by counting the number of source lines of code, once the project is complete (or estimated in advance by comparison with similar past projects).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834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Used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5468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Estimators compute the size of software by comparing a new project to similar past projects with known LOC.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size (LOC) is estimated, it directly drives derived metrics such as Errors/KLOC, Defects/KLOC, Cost/LOC, and Documentation pages/KLOC.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KLOC = thousand (kilo) lines of code, the common unit for large systems.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651760"/>
            <a:ext cx="5349240" cy="3474720"/>
          </a:xfrm>
          <a:prstGeom prst="roundRect">
            <a:avLst>
              <a:gd name="adj" fmla="val 2105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0" y="2834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15468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heavily on the programming language — the same functionality can need very different LOC in different languages.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measured accurately until the project is well underway or complete, weakening it for early estimation.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verbose code and penalises efficient, compact code, giving a misleading productivity picture.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account for the complexity of the logic, only the physical size.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ESTIMATION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Count (Function Point Analysis)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Function-Based metrics use Function Points (FP), derived from countable, function-oriented characteristics of the software — independent of the programming language used.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Information Domain Values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External Inputs (EI) — 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that provide distinct data to the software</a:t>
            </a:r>
            <a:endParaRPr lang="en-US" sz="12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External Outputs (EO) — 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data leaving the system (reports, messages)</a:t>
            </a:r>
            <a:endParaRPr lang="en-US" sz="12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External Inquiries (EQ) — 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inputs requiring an immediate response</a:t>
            </a:r>
            <a:endParaRPr lang="en-US" sz="12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Internal Logical Files (ILF) — 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groups maintained within the system</a:t>
            </a:r>
            <a:endParaRPr lang="en-US" sz="12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External Interface Files (EIF) — 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groups used by the system but maintained by another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178308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093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Function Points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33172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value is counted and classified as Simple, Average, or Complex, and multiplied by an empirically-derived weighting factor.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weighted counts are summed to give the Count Total (unadjusted FP).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Count Total × [0.65 + 0.01 × Σ(Fi)]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 (i = 1 to 14) are complexity adjustment values based on factors such as data communication, performance, reusability, and operational ease.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ESTIMATION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Halstead's Software Science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Maurice Halstead proposed that a program can be measured by counting operators and operands — a purely analytical approach to defining measures of software complexity.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Counts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distinct operators appearing in the program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331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distinct operands appearing in the program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34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operator occurrences (with repetition)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834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operand occurrences (with repetition)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5303520" cy="2514600"/>
          </a:xfrm>
          <a:prstGeom prst="roundRect">
            <a:avLst>
              <a:gd name="adj" fmla="val 2909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3794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&amp; Operands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1605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Operators: keywords, symbols, and function calls that act on data — e.g. +, -, if, while, =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Operands: variables and constants that represent data — e.g. x, count, 10, "total"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0760" y="361188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0" y="3794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Base Measures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41605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Vocabulary:   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n1 + n2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Length:   </a:t>
            </a: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N1 + N2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ESTIMATION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Halstead's Derived Measures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58191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Volume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84248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N × log2(n)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68880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bits required to represent the program; reflects the size of the implementation.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288536" y="1417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89704" y="158191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Level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489704" y="1984248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V* / V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89704" y="2468880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how concisely the program is written relative to the theoretical minimum volume V*.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28432" y="1417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0" y="158191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Difficulty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1984248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(n1/2) × (N2/n2)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468880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how difficult the program is to write or understand.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9808" y="414223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Effort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544568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V / L   =  D × V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5029200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mental effort required to develop the program; used to estimate development time.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288536" y="3977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489704" y="414223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Time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489704" y="4544568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E / 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489704" y="5029200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≈ 18 (Stroud number, mental discriminations per second); gives estimated time to implement.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028432" y="3977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0" y="414223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Bugs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544568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E^(2/3) / 3000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5029200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number of delivered bugs likely to remain in the software.</a:t>
            </a:r>
            <a:endParaRPr lang="en-US" sz="108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114800"/>
            <a:ext cx="4114800" cy="4114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 for Cost Estimation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cost/effort estimation is the process of predicting the effort, time, and money required to build a software system — one of the most difficult and important activities in project planning.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40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management to make a realistic bid or budget commitment to a customer before development begins.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the project manager to plan staffing levels, schedules, and resource allocation.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baseline against which actual progress and cost can be tracked and controlled.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434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avoid cost/schedule overruns, one of the leading causes of software project failure.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166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informed trade-off decisions between scope, cost, schedule, and quality.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Estimation Models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size of the software is estimated, one or more estimation models can be used to translate that size into effort, cost, and schedule.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Estimation Models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576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from past projects, expressed as an algorithmic relationship (e.g., COCOMO). The most widely used approach in practice.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88536" y="19202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17136" y="21945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1713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17136" y="2926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 Techniques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17136" y="36576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project into smaller functions or tasks and estimate each individually — e.g. LOC-based or FP-based decomposition.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28432" y="19202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57032" y="21945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57032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57032" y="2926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COCOMO Model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57032" y="36576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Cost Model by Barry Boehm — an empirical model widely used to estimate effort, cost and schedule based on size and cost drivers.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COCOMO — Constructive Cost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Barry W. Boehm (1981), COCOMO estimates effort (in person-months) and development time as a function of the estimated size of the software, expressed in KLOC (thousands of lines of code).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COCOMO Classifies Software Projects Into Three Modes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329184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Organic Mode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703320"/>
            <a:ext cx="3118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teams with good experience working on well-understood, in-house applications with flexible requirements. E.g., simple business/data-processing systems.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" y="5623560"/>
            <a:ext cx="3118104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62356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size: ≤ 50 KLOC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88536" y="310896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489704" y="329184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Semi-Detached Mode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489704" y="3703320"/>
            <a:ext cx="3118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mixture of experienced and inexperienced staff working on a project with a mix of rigid and flexible requirements. E.g., utility programs, compilers.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89704" y="5623560"/>
            <a:ext cx="3118104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89704" y="562356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size: ≤ 300 KLOC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28432" y="310896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0" y="329184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Mode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703320"/>
            <a:ext cx="3118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with tight constraints (hardware, software, operational) and complex interfaces, often novel and demanding. E.g., real-time, flight control systems.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0" y="5623560"/>
            <a:ext cx="3118104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0" y="562356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size: Any size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COCOMO — Basic 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of the three COCOMO levels. It computes effort and cost as a function of program size expressed in estimated KLOC, using a small set of mode-specific constants.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  </a:t>
            </a:r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a × (KLOC)^b   person-months
</a:t>
            </a:r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Time:   </a:t>
            </a:r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c × (E)^d   months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6400800" cy="173736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Semi-Detached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178040" y="3429000"/>
            <a:ext cx="425196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406640" y="3547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38404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KLOC = estimated size of the project in thousands of delivered source lines</a:t>
            </a:r>
            <a:endParaRPr lang="en-US" sz="1050" dirty="0"/>
          </a:p>
          <a:p>
            <a:pPr marL="228600" indent="-2286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c, d are constants determined by project mode (Organic / Semi-detached / Embedded)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5349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68680" y="54132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model gives a quick, rough estimate of project effort and cost, but does not account for differences in project attributes (e.g. reliability requirements, team experience) — that refinement is added in the Intermediate model.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COCOMO — Intermediate 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the Basic model by adding a set of Cost Drivers — 15 attributes that adjust the nominal effort up or down based on product, hardware, personnel and project attributes.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a × (KLOC)^b × EAF   person-months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688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(Effort Adjustment Factor) = product of the ratings of all 15 cost drivers, each rated on a scale from Very Low to Extra High.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49808" y="3328416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Attributes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675888"/>
            <a:ext cx="4901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reliability (RELY), Database size (DATA), Product complexity (CPLX)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32004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27648" y="3328416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Attributes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327648" y="3675888"/>
            <a:ext cx="4901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 constraint (TIME), Main storage constraint (STOR), Virtual machine volatility (VIRT), Turnaround time (TURN)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49808" y="4928616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Personnel Attributes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5276088"/>
            <a:ext cx="4901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capability (ACAP), Programmer capability (PCAP), Applications experience (AEXP), Virtual machine experience (VEXP), Language experience (LEXP)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48006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27648" y="4928616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Attributes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27648" y="5276088"/>
            <a:ext cx="4901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modern practices (MODP), Use of software tools (TOOL), Required schedule (SCED)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3840480" cy="3840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544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planning depends on reliable metrics to estimate size, effort, cost and schedule before and during development.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5544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fall into three categories — Product, Process, and Project — each serving a different purpose in planning and control.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0175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can be estimated using Lines of Code, Function Point (Function Count), or Halstead's Software Science measures.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3063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264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30175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Halstead's measures derive length, volume, difficulty, effort, time and estimated bugs from operator/operand counts.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4805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is essential for realistic budgeting; COCOMO is the most widely used empirical estimation model.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45262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264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44805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COCOMO's Basic model gives a quick estimate from size alone; the Intermediate model refines it with 15 cost drivers (EAF).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172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2026-09-14T18:05:47Z</dcterms:created>
  <dcterms:modified xsi:type="dcterms:W3CDTF">2026-09-14T18:05:47Z</dcterms:modified>
</cp:coreProperties>
</file>