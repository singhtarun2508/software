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3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 ·  SOFTWARE PROJECT PLANNING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Management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Risks  •  Types of Risk  •  Risk Assessment  •  Risk Control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25400">
            <a:solidFill>
              <a:srgbClr val="B23A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38912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detailed study of software risk identification, assessment and control, prepared with reference to standard software engineering texts.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6400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3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91640"/>
            <a:ext cx="10314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Risk Management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02536"/>
            <a:ext cx="10314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software projects need formal risk handling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11091672" cy="0"/>
          </a:xfrm>
          <a:prstGeom prst="line">
            <a:avLst/>
          </a:prstGeom>
          <a:noFill/>
          <a:ln w="9525">
            <a:solidFill>
              <a:srgbClr val="D8DE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450592"/>
            <a:ext cx="6400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3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450592"/>
            <a:ext cx="10314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Risk — Definition &amp; Nature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761488"/>
            <a:ext cx="10314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Uncertainty, loss and the concept of risk exposure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11091672" cy="0"/>
          </a:xfrm>
          <a:prstGeom prst="line">
            <a:avLst/>
          </a:prstGeom>
          <a:noFill/>
          <a:ln w="9525">
            <a:solidFill>
              <a:srgbClr val="D8DE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209544"/>
            <a:ext cx="6400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3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209544"/>
            <a:ext cx="10314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Risk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520440"/>
            <a:ext cx="10314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Project, technical and business risk; known, predictable, unpredictable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13632"/>
            <a:ext cx="11091672" cy="0"/>
          </a:xfrm>
          <a:prstGeom prst="line">
            <a:avLst/>
          </a:prstGeom>
          <a:noFill/>
          <a:ln w="9525">
            <a:solidFill>
              <a:srgbClr val="D8DE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968496"/>
            <a:ext cx="6400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3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968496"/>
            <a:ext cx="10314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Activities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279392"/>
            <a:ext cx="10314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and risk control explained in detail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72584"/>
            <a:ext cx="11091672" cy="0"/>
          </a:xfrm>
          <a:prstGeom prst="line">
            <a:avLst/>
          </a:prstGeom>
          <a:noFill/>
          <a:ln w="9525">
            <a:solidFill>
              <a:srgbClr val="D8DE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727448"/>
            <a:ext cx="6400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3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727448"/>
            <a:ext cx="10314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038344"/>
            <a:ext cx="10314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Identification, analysis/projection and prioritisation of risks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431536"/>
            <a:ext cx="11091672" cy="0"/>
          </a:xfrm>
          <a:prstGeom prst="line">
            <a:avLst/>
          </a:prstGeom>
          <a:noFill/>
          <a:ln w="9525">
            <a:solidFill>
              <a:srgbClr val="D8DEE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486400"/>
            <a:ext cx="6400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3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5486400"/>
            <a:ext cx="10314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Control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797296"/>
            <a:ext cx="10314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RMMM planning, mitigation, monitoring and management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 |  Software Project Planning – Risk Management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Software Projects Need Risk Management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109167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projects operate under constant uncertainty — requirements change, technology evolves, teams shift, and schedules slip.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is a potential problem that may or may not occur in the future; if it does occur, it can adversely affect cost, schedule, quality, or the very success of the project.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is a proactive strategy: it deals with problems before they occur, rather than reacting after damage is done.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Boehm (1991) summarised it as: “Identify risk before it becomes a problem, and manage it so it never does.”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continuous, iterative activity carried out throughout the software life cycle — from planning to delivery — not a one-time exercise at project start.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risk management improves the probability of a project finishing on time, within budget, and meeting quality expectations.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 |  Software Project Planning – Risk Management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Software Risk?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4864" cy="292608"/>
          </a:xfrm>
          <a:prstGeom prst="rect">
            <a:avLst/>
          </a:prstGeom>
          <a:solidFill>
            <a:srgbClr val="B23A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67335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 risk is defined as an uncertain event or condition that, if it occurs, has a negative effect on a project's objectives — scope, schedule, cost, or quality.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= f(uncertainty, loss). Both elements must be present for a concern to qualify as a risk.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54864" cy="292608"/>
          </a:xfrm>
          <a:prstGeom prst="rect">
            <a:avLst/>
          </a:prstGeom>
          <a:solidFill>
            <a:srgbClr val="B23A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377647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Defining Properties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5362956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77356" y="4160520"/>
            <a:ext cx="5362956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315968"/>
            <a:ext cx="49057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
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event may or may not happen. There is never a 100% probability attached to a genuine risk — a certainty is simply a problem, not a risk.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05956" y="4315968"/>
            <a:ext cx="49057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
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risk becomes a reality, unwanted consequences or losses will occur — in the form of delay, extra cost, degraded quality, or loss of goodwill.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 |  Software Project Planning – Risk Management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Components and Risk Exposure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109167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is described using three essential components, first identified by Boehm:</a:t>
            </a:r>
            <a:endParaRPr lang="en-US" sz="14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description — a clear statement of what might go wrong (the future condition).</a:t>
            </a:r>
            <a:endParaRPr lang="en-US" sz="14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probability — the likelihood that the situation described will actually occur (0 &lt; p &lt; 1).</a:t>
            </a:r>
            <a:endParaRPr lang="en-US" sz="14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consequence (impact) — the loss or damage that will result if the risk occurs, in terms of cost, schedule, or performance.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combine to give a quantitative measure called Risk Exposure (RE), also called Risk Impact: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461772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4736592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  =  P  ×  C          (P = probability of occurrence, C = cost/consequence if it occurs)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 |  Software Project Planning – Risk Management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Importance of Risk Management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1091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early warning: problems are anticipated while there is still time to plan a response, instead of being discovered when it is too late to act.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decision making: project managers can make informed trade-offs between schedule, cost, and scope when risks are quantified.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the chance of project failure: many documented project failures (cost/schedule overruns, abandonment) can be traced to unmanaged risks.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resource allocation: contingency budget, time buffers, and skilled staff can be directed to the areas of greatest exposure.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stakeholder confidence: a visible risk plan reassures clients and management that the project is under control.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continuous learning: risks realised in one project become checklist items for future projects, improving organisational maturity.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 |  Software Project Planning – Risk Management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 of Software Risk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Roger Pressman classifies software risks into three broad categories based on where the risk originates: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514344" cy="356616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31720"/>
            <a:ext cx="3514344" cy="91440"/>
          </a:xfrm>
          <a:prstGeom prst="rect">
            <a:avLst/>
          </a:prstGeom>
          <a:solidFill>
            <a:srgbClr val="B23A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60604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Risks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08960"/>
            <a:ext cx="30571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 the project plan — budget, schedule, staffing, resources, and customer/requirement problems.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37304" y="2331720"/>
            <a:ext cx="3514344" cy="356616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37304" y="2331720"/>
            <a:ext cx="3514344" cy="91440"/>
          </a:xfrm>
          <a:prstGeom prst="rect">
            <a:avLst/>
          </a:prstGeom>
          <a:solidFill>
            <a:srgbClr val="C98A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65904" y="260604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Risks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65904" y="3108960"/>
            <a:ext cx="30571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 the quality and timeliness of the software to be produced — design, implementation, and technology issues.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25968" y="2331720"/>
            <a:ext cx="3514344" cy="356616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25968" y="2331720"/>
            <a:ext cx="3514344" cy="91440"/>
          </a:xfrm>
          <a:prstGeom prst="rect">
            <a:avLst/>
          </a:prstGeom>
          <a:solidFill>
            <a:srgbClr val="2E406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54568" y="260604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Risks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3108960"/>
            <a:ext cx="30571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 the viability of the software once it is built — market, strategic, and management risks.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 |  Software Project Planning – Risk Management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RISK · 1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Risks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1091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risks threaten the project plan — if they occur, the project schedule slips and costs increase.</a:t>
            </a:r>
            <a:endParaRPr lang="en-US" sz="14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Budgetary risk — inadequate or fluctuating funding for the project.</a:t>
            </a:r>
            <a:endParaRPr lang="en-US" sz="14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risk — unrealistic deadlines, delays in deliverables, or dependencies causing slippage.</a:t>
            </a:r>
            <a:endParaRPr lang="en-US" sz="14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(staffing) risk — insufficient, inexperienced, or high staff-turnover teams.</a:t>
            </a:r>
            <a:endParaRPr lang="en-US" sz="14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risk — non-availability of required hardware, software tools, or facilities.</a:t>
            </a:r>
            <a:endParaRPr lang="en-US" sz="14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risk — changing requirements, poor communication, or lack of customer involvement.</a:t>
            </a:r>
            <a:endParaRPr lang="en-US" sz="14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risk — requirements that are incomplete, ambiguous, or continually changing (scope creep).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 |  Software Project Planning – Risk Management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RISK · 2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Risks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1091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risks threaten the quality and timeliness of the software being built; if they occur, implementation may become difficult or impossible.</a:t>
            </a:r>
            <a:endParaRPr lang="en-US" sz="14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risk — poor or incomplete design leading to rework during implementation.</a:t>
            </a:r>
            <a:endParaRPr lang="en-US" sz="14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risk — ambiguous specifications, unproven or immature technology, or difficult algorithms.</a:t>
            </a:r>
            <a:endParaRPr lang="en-US" sz="14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Interfacing risk — problems integrating with other systems, legacy software, or third-party components.</a:t>
            </a:r>
            <a:endParaRPr lang="en-US" sz="14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and validation risk — inadequate test coverage or difficulty in establishing correctness.</a:t>
            </a:r>
            <a:endParaRPr lang="en-US" sz="14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risk — software that is difficult to understand, modify, or extend after delivery.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risks are generally more difficult to identify at the outset than project risks, because they are tied closely to the chosen technology and design decisions.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 |  Software Project Planning – Risk Management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RISK · 3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Risks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1091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risks threaten the viability of the software once it has been delivered, even if it is built to specification.</a:t>
            </a:r>
            <a:endParaRPr lang="en-US" sz="14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risk — building an excellent product that nobody wants because it does not fit market need.</a:t>
            </a:r>
            <a:endParaRPr lang="en-US" sz="14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risk — building a product that no longer fits the overall business strategy of the organisation.</a:t>
            </a:r>
            <a:endParaRPr lang="en-US" sz="14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Sales/management risk — building a product the sales force does not understand how to sell, or losing management support/commitment.</a:t>
            </a:r>
            <a:endParaRPr lang="en-US" sz="14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risk — losing budgetary or personnel commitment from senior management partway through the project.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risks are often the hardest to detect early because they depend on external market conditions and internal organisational politics rather than technical facts.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 |  Software Project Planning – Risk Management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CLASSIFICATION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Known, Predictable &amp; Unpredictable Risks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risks can also be grouped by how easily they can be foreseen: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30428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23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Risks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2304288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that can be uncovered after careful evaluation of the project plan, business/technical environment, and other reliable information sources.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915400" y="2304288"/>
            <a:ext cx="2496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Unrealistic delivery date already fixed in the contract; lack of documented requirements.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72160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23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Predictable Risks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3721608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that are extrapolated from past project experience — they have occurred often enough in similar projects to be expected.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3721608"/>
            <a:ext cx="2496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Staff turnover during a long project; customer requirement changes mid-project.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513892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23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Unpredictable Risks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0" y="5138928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that can and do occur, but are extremely difficult to identify in advance using any systematic method.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5138928"/>
            <a:ext cx="2496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Sudden regulatory changes; natural disasters; unforeseen market shifts.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 |  Software Project Planning – Risk Management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Management Activities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is carried out through two broad, complementary sets of activities: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317236" cy="3977640"/>
          </a:xfrm>
          <a:prstGeom prst="roundRect">
            <a:avLst>
              <a:gd name="adj" fmla="val 1839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423160"/>
            <a:ext cx="4768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 Risk Assessment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476859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identification — recognising possible risks specific to the project.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 / projection — estimating probability and impact of each risk.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prioritisation (assessment) — ranking risks so attention goes where it matters most.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23076" y="2194560"/>
            <a:ext cx="5317236" cy="3977640"/>
          </a:xfrm>
          <a:prstGeom prst="roundRect">
            <a:avLst>
              <a:gd name="adj" fmla="val 1839"/>
            </a:avLst>
          </a:prstGeom>
          <a:solidFill>
            <a:srgbClr val="B23A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97396" y="2423160"/>
            <a:ext cx="4768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 Risk Control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97396" y="2971800"/>
            <a:ext cx="476859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B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planning — deciding strategy and preparing the RMMM plan.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B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resolution (mitigation) — executing the plan to reduce or eliminate risk.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B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monitoring — tracking risks and the effectiveness of the plan throughout the project.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 |  Software Project Planning – Risk Management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·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Identification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1091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identification is a systematic attempt to specify threats to the project plan — the first and most important step, since a risk that is never identified can never be managed.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risks — risks that are a potential threat to every software project (e.g. staff turnover, unrealistic schedules).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Product-specific risks — risks identifiable only by those with a clear understanding of the technology, people, and environment specific to the project at hand.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technique — a risk item checklist, focused on known and predictable risk categories such as:</a:t>
            </a:r>
            <a:endParaRPr lang="en-US" sz="13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size, business impact, customer characteristics, process definition</a:t>
            </a:r>
            <a:endParaRPr lang="en-US" sz="13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 and technology to be built</a:t>
            </a:r>
            <a:endParaRPr lang="en-US" sz="13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size and experience of the project team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techniques: brainstorming sessions, Delphi technique, interviews, lessons-learned reviews from past projects, and SWOT analysis.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 |  Software Project Planning – Risk Management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·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Analysis (Risk Projection)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1091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projection (risk estimation) attempts to rate each identified risk in two ways: the likelihood that the risk is real, and the consequence of the problems associated with it.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planner, along with other managers and technical staff, performs four risk projection activities:</a:t>
            </a:r>
            <a:endParaRPr lang="en-US" sz="13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scale that reflects the perceived likelihood of a risk (e.g. probability from 0.1 to 1.0, or a simple Low/Medium/High scale).</a:t>
            </a:r>
            <a:endParaRPr lang="en-US" sz="13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Delineate the consequences of the risk — the impact on cost, schedule, and technical performance.</a:t>
            </a:r>
            <a:endParaRPr lang="en-US" sz="13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the impact of the risk on the project and product.</a:t>
            </a:r>
            <a:endParaRPr lang="en-US" sz="13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overall accuracy of the risk projection so that there are no misunderstandings.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of this analysis feeds directly into the Risk Exposure calculation (RE = P × C) introduced earlier, which is used to compare risks on a common scale.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 |  Software Project Planning – Risk Management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·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Prioritisation — The Risk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identified risks are entered into a risk table, sorted by risk exposure so that the most severe risks are addressed first.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1672" cy="2834640"/>
        </p:xfrm>
        <a:graphic>
          <a:graphicData uri="http://schemas.openxmlformats.org/drawingml/2006/table">
            <a:tbl>
              <a:tblPr/>
              <a:tblGrid>
                <a:gridCol w="4480560"/>
                <a:gridCol w="1737360"/>
                <a:gridCol w="1463040"/>
                <a:gridCol w="1371600"/>
                <a:gridCol w="1097280"/>
              </a:tblGrid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Probability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Impact (1-5)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B3A"/>
                          </a:solidFill>
                        </a:rPr>
                        <a:t>Key staff member leaves mid-project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3A"/>
                          </a:solidFill>
                        </a:rPr>
                        <a:t>Project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3A"/>
                          </a:solidFill>
                        </a:rPr>
                        <a:t>0.5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3A"/>
                          </a:solidFill>
                        </a:rPr>
                        <a:t>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3A"/>
                          </a:solidFill>
                        </a:rPr>
                        <a:t>2.0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B3A"/>
                          </a:solidFill>
                        </a:rPr>
                        <a:t>Requirements change frequently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3A"/>
                          </a:solidFill>
                        </a:rPr>
                        <a:t>Project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3A"/>
                          </a:solidFill>
                        </a:rPr>
                        <a:t>0.6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3A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3A"/>
                          </a:solidFill>
                        </a:rPr>
                        <a:t>1.8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B3A"/>
                          </a:solidFill>
                        </a:rPr>
                        <a:t>Chosen technology proves immature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3A"/>
                          </a:solidFill>
                        </a:rPr>
                        <a:t>Technical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3A"/>
                          </a:solidFill>
                        </a:rPr>
                        <a:t>0.3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3A"/>
                          </a:solidFill>
                        </a:rPr>
                        <a:t>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3A"/>
                          </a:solidFill>
                        </a:rPr>
                        <a:t>1.5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B3A"/>
                          </a:solidFill>
                        </a:rPr>
                        <a:t>End users resist new system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3A"/>
                          </a:solidFill>
                        </a:rPr>
                        <a:t>Business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3A"/>
                          </a:solidFill>
                        </a:rPr>
                        <a:t>0.3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3A"/>
                          </a:solidFill>
                        </a:rPr>
                        <a:t>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3A"/>
                          </a:solidFill>
                        </a:rPr>
                        <a:t>1.2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B3A"/>
                          </a:solidFill>
                        </a:rPr>
                        <a:t>Third-party component delivered late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3A"/>
                          </a:solidFill>
                        </a:rPr>
                        <a:t>Technical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3A"/>
                          </a:solidFill>
                        </a:rPr>
                        <a:t>0.4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3A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3A"/>
                          </a:solidFill>
                        </a:rPr>
                        <a:t>1.2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2578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Exposure (RE) = Probability × Impact. Risks above a chosen cut-off line receive an RMMM plan; the rest are monitored only.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 |  Software Project Planning – Risk Management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CONTROL ·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Management Planning — the RMMM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1091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risks are analysed and prioritised, the project team develops a strategy for managing risk — documented in a Risk Mitigation, Monitoring and Management (RMMM) Plan.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risk above the cut-off line, the plan specifies:</a:t>
            </a:r>
            <a:endParaRPr lang="en-US" sz="13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be done to reduce the probability that the risk will occur (mitigation).</a:t>
            </a:r>
            <a:endParaRPr lang="en-US" sz="13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be done to reduce the impact if the risk does occur (contingency).</a:t>
            </a:r>
            <a:endParaRPr lang="en-US" sz="13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team will know whether the risk is turning into a real problem (monitoring indicators).</a:t>
            </a:r>
            <a:endParaRPr lang="en-US" sz="13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contingency plans exist if the risk does materialise despite mitigation.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RMMM plan becomes part of the overall project plan and is reviewed and updated at every project milestone, not written once and forgotten.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 |  Software Project Planning – Risk Management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CONTROL ·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M's — Mitigation, Monitoring, Management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514344" cy="448056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3514344" cy="73152"/>
          </a:xfrm>
          <a:prstGeom prst="rect">
            <a:avLst/>
          </a:prstGeom>
          <a:solidFill>
            <a:srgbClr val="B23A3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1901952"/>
            <a:ext cx="3112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286000"/>
            <a:ext cx="3112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steps taken to reduce the probability or impact of a risk before it happens.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246120"/>
            <a:ext cx="311200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extra staff / cross-train for turnover risk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technical spikes to retire unproven-technology risk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requirements after sign-off with a formal change process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37304" y="1691640"/>
            <a:ext cx="3514344" cy="448056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37304" y="1691640"/>
            <a:ext cx="3514344" cy="73152"/>
          </a:xfrm>
          <a:prstGeom prst="rect">
            <a:avLst/>
          </a:prstGeom>
          <a:solidFill>
            <a:srgbClr val="B23A3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38472" y="1901952"/>
            <a:ext cx="3112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38472" y="2286000"/>
            <a:ext cx="3112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tracking of factors that provide an indication of whether a risk is becoming more or less likely.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38472" y="3246120"/>
            <a:ext cx="311200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team morale and attendance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 against the schedule at each milestone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early warning signs listed in the RMMM plan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25968" y="1691640"/>
            <a:ext cx="3514344" cy="448056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25968" y="1691640"/>
            <a:ext cx="3514344" cy="73152"/>
          </a:xfrm>
          <a:prstGeom prst="rect">
            <a:avLst/>
          </a:prstGeom>
          <a:solidFill>
            <a:srgbClr val="B23A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27136" y="1901952"/>
            <a:ext cx="3112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27136" y="2286000"/>
            <a:ext cx="3112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taken assuming that mitigation efforts have failed and the risk has become a real problem.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327136" y="3246120"/>
            <a:ext cx="311200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pre-planned contingency plan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 budget / schedule buffers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management for a scope or resource decision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 |  Software Project Planning – Risk Management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CONTROL ·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Monitoring in Detail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1091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monitoring is a project-tracking activity performed throughout the project, with three primary objectives:</a:t>
            </a:r>
            <a:endParaRPr lang="en-US" sz="140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whether predicted risks actually occur or not.</a:t>
            </a:r>
            <a:endParaRPr lang="en-US" sz="140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that risk aversion (mitigation) steps defined for the risk are being properly applied.</a:t>
            </a:r>
            <a:endParaRPr lang="en-US" sz="140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information that can be used for future risk analysis on this and other projects.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manager watches for indicators or “factors” such as slipping sub-task completion dates, quality of deliverables falling below expectations, or increasing numbers of change requests.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RMMM steps are documented and tracked, monitoring closes the loop of risk management — feeding results back into risk identification and analysis for the next iteration of the project (or the next project).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 |  Software Project Planning – Risk Management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10332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 risk is an uncertain event that would cause loss if it occurred; Risk Exposure = Probability × Impact.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are classified as project, technical, or business risks (Pressman); or as known, predictable, and unpredictable risks.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activities fall into two groups: risk assessment (identify, analyse, prioritise) and risk control (plan, resolve/mitigate, monitor).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RMMM plan documents mitigation, monitoring indicators, and contingency/management actions for every significant risk.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is continuous — it is revisited at every milestone throughout the software life cycle, not performed once at project start.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 |  Software Project Planning – Risk Management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Books for Reference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54864" cy="292608"/>
          </a:xfrm>
          <a:prstGeom prst="rect">
            <a:avLst/>
          </a:prstGeom>
          <a:solidFill>
            <a:srgbClr val="B23A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71907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Books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TB1.  K. K. Aggarwal and Yogesh Singh, “Software Engineering”, 3rd Edition, New Age International Publishers, 2008.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TB2.  Ian Sommerville, “Software Engineering”, 10th Edition, Pearson Education, 2015.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54864" cy="292608"/>
          </a:xfrm>
          <a:prstGeom prst="rect">
            <a:avLst/>
          </a:prstGeom>
          <a:solidFill>
            <a:srgbClr val="B23A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341071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Books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94760"/>
            <a:ext cx="110916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RB1.  Jibitesh Mishra and Ashok Mohanty, “Software Engineering”, Pearson Education, 2011.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RB2.  Roger S. Pressman and Bruce R. Maxim, “Software Engineering: A Practitioner's Approach”, 9th Edition, McGraw-Hill Education, 2019.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RB3.  James F. Peters and Witold Pedrycz, “Software Engineering: An Engineering Approach”, Wiley India / John Wiley &amp; Sons, 2000.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 |  Software Project Planning – Risk Management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2026-09-27T17:48:55Z</dcterms:created>
  <dcterms:modified xsi:type="dcterms:W3CDTF">2026-09-27T17:48:55Z</dcterms:modified>
</cp:coreProperties>
</file>